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75" r:id="rId3"/>
    <p:sldId id="340" r:id="rId4"/>
    <p:sldId id="258" r:id="rId5"/>
    <p:sldId id="342" r:id="rId6"/>
    <p:sldId id="338" r:id="rId7"/>
    <p:sldId id="337" r:id="rId8"/>
    <p:sldId id="329" r:id="rId9"/>
    <p:sldId id="309" r:id="rId10"/>
    <p:sldId id="323" r:id="rId11"/>
    <p:sldId id="325" r:id="rId12"/>
    <p:sldId id="313" r:id="rId13"/>
    <p:sldId id="328" r:id="rId14"/>
    <p:sldId id="346" r:id="rId15"/>
    <p:sldId id="345" r:id="rId16"/>
    <p:sldId id="332" r:id="rId17"/>
    <p:sldId id="348" r:id="rId18"/>
    <p:sldId id="335" r:id="rId19"/>
    <p:sldId id="336" r:id="rId20"/>
    <p:sldId id="347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>
      <p:cViewPr varScale="1">
        <p:scale>
          <a:sx n="41" d="100"/>
          <a:sy n="41" d="100"/>
        </p:scale>
        <p:origin x="72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M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CADF74-1B86-4422-A1F3-FC08EC84765E}" type="datetimeFigureOut">
              <a:rPr lang="fr-CM" smtClean="0"/>
              <a:t>13/05/2025</a:t>
            </a:fld>
            <a:endParaRPr lang="fr-CM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M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M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CA8C0F-154E-44C1-8F62-85AD69A2C1B2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912597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2d4e97ef00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2d4e97ef00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Selon shem</a:t>
            </a:r>
            <a:r>
              <a:rPr lang="fr-FR" baseline="0" dirty="0"/>
              <a:t> BODO… allant de ce postulat il est parait évident que nous aborderons la discipline comme comportement. Le suivi disciplinaire des apprenants de l'enseignement secondaire est donc un défis rendu à l’aire de la digitalisation vue les limites du suivi classique de la discipline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2d4e97ef00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2d4e97ef00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Selon shem</a:t>
            </a:r>
            <a:r>
              <a:rPr lang="fr-FR" baseline="0" dirty="0"/>
              <a:t> BODO… allant de ce postulat il est parait évident que nous aborderons la discipline comme comportement. Le suivi disciplinaire des apprenants de l'enseignement secondaire est donc un défis rendu à l’aire de la digitalisation vue les limites du suivi classique de la discipline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3896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67C783-8990-479E-BEE4-ACD096B26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0447A35-63ED-4C7C-A828-0AE738A39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M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9DB841-BE65-4170-97AB-269528D6B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45C40-C800-4004-AB87-290ADBB3CC90}" type="datetimeFigureOut">
              <a:rPr lang="fr-CM" smtClean="0"/>
              <a:t>13/05/2025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634F8A-9401-4416-8319-E4029D132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6C22DE-B197-4ABD-81E2-57E635AE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CC55-0B4F-4FE3-8F69-B6476C3DB2C6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57723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5DE144-9CB5-483C-8B01-9427CDB87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C87A3C-484E-47DD-AEC3-7B9B5388A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21B985-5C5B-4FE7-A2AE-4D48DB866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45C40-C800-4004-AB87-290ADBB3CC90}" type="datetimeFigureOut">
              <a:rPr lang="fr-CM" smtClean="0"/>
              <a:t>13/05/2025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53CB10-7E18-44A5-8D6C-3B232296E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5CBCEB-C469-4166-A59E-32EE713D5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CC55-0B4F-4FE3-8F69-B6476C3DB2C6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56863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33C1C-C3F9-402A-BA8B-221CF8AE2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73A9CD-7D0B-49D5-BB82-AF1FC4DB6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831F32-4B45-4CAF-AE87-1692E14A5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45C40-C800-4004-AB87-290ADBB3CC90}" type="datetimeFigureOut">
              <a:rPr lang="fr-CM" smtClean="0"/>
              <a:t>13/05/2025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7DBBC4-49E8-4B0D-9B18-2EB861FD2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DB6309-045B-4861-BF47-4F022789F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CC55-0B4F-4FE3-8F69-B6476C3DB2C6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4255760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B3D128-93FC-4273-B425-7CB1C63B1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7739AF-9401-4E8C-BBBF-37F427572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E09460E-32C4-4B5B-80B8-C19A7C2CBB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3D3219-2EF4-4C42-9BB3-1E58378CF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45C40-C800-4004-AB87-290ADBB3CC90}" type="datetimeFigureOut">
              <a:rPr lang="fr-CM" smtClean="0"/>
              <a:t>13/05/2025</a:t>
            </a:fld>
            <a:endParaRPr lang="fr-CM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F676F9A-EB74-4307-B1C1-785533C70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6E83615-5E8D-4F0B-BA91-7952A13CC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CC55-0B4F-4FE3-8F69-B6476C3DB2C6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856500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638321-B9F0-4FC4-8786-DBF731694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128FF2D-EFCD-4C23-8F8C-8EB84E131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9A93899-81DF-4710-BCF1-154D2BEBF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9917E76-18D3-496C-A614-A4E2511D0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3CE5404-CF12-4934-90C9-9A6107F33F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25381F3-2E13-4B3C-A705-3F626CDEE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45C40-C800-4004-AB87-290ADBB3CC90}" type="datetimeFigureOut">
              <a:rPr lang="fr-CM" smtClean="0"/>
              <a:t>13/05/2025</a:t>
            </a:fld>
            <a:endParaRPr lang="fr-CM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7341F7-3930-4138-90F9-1AD7776FE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F4FD76E-2003-4BA4-BAC6-BDB513083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CC55-0B4F-4FE3-8F69-B6476C3DB2C6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614088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C9FA5D-D499-483A-952E-9C2D47701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ABD323B-CEEB-42E7-B099-CAA5F8F67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45C40-C800-4004-AB87-290ADBB3CC90}" type="datetimeFigureOut">
              <a:rPr lang="fr-CM" smtClean="0"/>
              <a:t>13/05/2025</a:t>
            </a:fld>
            <a:endParaRPr lang="fr-CM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AFDA668-C450-4048-A29A-3D246C32E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E3BA50C-D08C-4AC0-80F4-26A930DF2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CC55-0B4F-4FE3-8F69-B6476C3DB2C6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98127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0C4D9F8-9DD6-4CBF-BF08-01A6583F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45C40-C800-4004-AB87-290ADBB3CC90}" type="datetimeFigureOut">
              <a:rPr lang="fr-CM" smtClean="0"/>
              <a:t>13/05/2025</a:t>
            </a:fld>
            <a:endParaRPr lang="fr-CM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F9B52AA-F5A3-4597-80D1-9BDD52377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907701F-A4C3-4AD8-B156-6E9EE5613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CC55-0B4F-4FE3-8F69-B6476C3DB2C6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525455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99F5FB-9C8D-41D9-8755-83AE70755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7C73FB-5086-4A76-8E9B-EA7544396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F188DC-289C-43C0-8C85-D629E37D7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465A24-3C00-49A0-98D5-FDAE17070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45C40-C800-4004-AB87-290ADBB3CC90}" type="datetimeFigureOut">
              <a:rPr lang="fr-CM" smtClean="0"/>
              <a:t>13/05/2025</a:t>
            </a:fld>
            <a:endParaRPr lang="fr-CM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A36138F-FC83-454A-98CA-C15E508BD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B38FF1C-C005-42C7-ACAE-0DE9F68B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CC55-0B4F-4FE3-8F69-B6476C3DB2C6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224419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07E652-413B-4856-981A-AE48B3951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6EDBE2B-5A85-4A9D-8508-FCFE6C3F15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M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A9B011B-CA69-4EA4-B94A-A87B11BC7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6E97047-8F66-45B5-BA82-D8144B19C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45C40-C800-4004-AB87-290ADBB3CC90}" type="datetimeFigureOut">
              <a:rPr lang="fr-CM" smtClean="0"/>
              <a:t>13/05/2025</a:t>
            </a:fld>
            <a:endParaRPr lang="fr-CM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96D2F63-6756-4BE4-B84D-168AC72F9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9EEDD31-94F5-41F9-AFD6-06AE5D915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CC55-0B4F-4FE3-8F69-B6476C3DB2C6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71908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9FBFDE-B476-4755-BB8F-ABC191ABD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92A5CEC-7AE8-433A-B43E-17FA4772DC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E0A6EE-F775-4CBF-81D4-CB07B4BDB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45C40-C800-4004-AB87-290ADBB3CC90}" type="datetimeFigureOut">
              <a:rPr lang="fr-CM" smtClean="0"/>
              <a:t>13/05/2025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5E84F6-4ECA-490F-9BD5-DC14B670B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B576F1-A55E-464E-BC08-5E10C8857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CC55-0B4F-4FE3-8F69-B6476C3DB2C6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505227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FCD5ECF-BF04-46FE-B0AA-34E8F14A96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6855C59-BEBE-4162-9322-3D9F6932D5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0E92B6-FBB2-480B-BB32-5A943D67E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45C40-C800-4004-AB87-290ADBB3CC90}" type="datetimeFigureOut">
              <a:rPr lang="fr-CM" smtClean="0"/>
              <a:t>13/05/2025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3A8E25-5DA3-4A6D-987D-5A05BDF07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A2634A-6C8E-4A01-91F2-1295CF6E7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ACC55-0B4F-4FE3-8F69-B6476C3DB2C6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169041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0800025" scaled="0"/>
        </a:gra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2363284" y="2206300"/>
            <a:ext cx="3518000" cy="4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0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"/>
          </p:nvPr>
        </p:nvSpPr>
        <p:spPr>
          <a:xfrm>
            <a:off x="2363284" y="2683987"/>
            <a:ext cx="3518000" cy="69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2"/>
          </p:nvPr>
        </p:nvSpPr>
        <p:spPr>
          <a:xfrm>
            <a:off x="7299916" y="2206300"/>
            <a:ext cx="3518000" cy="4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0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3"/>
          </p:nvPr>
        </p:nvSpPr>
        <p:spPr>
          <a:xfrm>
            <a:off x="7299916" y="2683987"/>
            <a:ext cx="3518000" cy="69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4" hasCustomPrompt="1"/>
          </p:nvPr>
        </p:nvSpPr>
        <p:spPr>
          <a:xfrm>
            <a:off x="1374084" y="2206300"/>
            <a:ext cx="887600" cy="4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733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5" hasCustomPrompt="1"/>
          </p:nvPr>
        </p:nvSpPr>
        <p:spPr>
          <a:xfrm>
            <a:off x="6310717" y="2206300"/>
            <a:ext cx="887600" cy="4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733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6"/>
          </p:nvPr>
        </p:nvSpPr>
        <p:spPr>
          <a:xfrm>
            <a:off x="950967" y="719333"/>
            <a:ext cx="10290000" cy="6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4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4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4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4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4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4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4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4667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7"/>
          </p:nvPr>
        </p:nvSpPr>
        <p:spPr>
          <a:xfrm>
            <a:off x="2363284" y="4082233"/>
            <a:ext cx="3518000" cy="4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0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8"/>
          </p:nvPr>
        </p:nvSpPr>
        <p:spPr>
          <a:xfrm>
            <a:off x="2363284" y="4559920"/>
            <a:ext cx="3518000" cy="69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9"/>
          </p:nvPr>
        </p:nvSpPr>
        <p:spPr>
          <a:xfrm>
            <a:off x="7299916" y="4082233"/>
            <a:ext cx="3518000" cy="4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0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3"/>
          </p:nvPr>
        </p:nvSpPr>
        <p:spPr>
          <a:xfrm>
            <a:off x="7299916" y="4559920"/>
            <a:ext cx="3518000" cy="69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14" hasCustomPrompt="1"/>
          </p:nvPr>
        </p:nvSpPr>
        <p:spPr>
          <a:xfrm>
            <a:off x="1374084" y="4082233"/>
            <a:ext cx="887600" cy="4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733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15" hasCustomPrompt="1"/>
          </p:nvPr>
        </p:nvSpPr>
        <p:spPr>
          <a:xfrm>
            <a:off x="6310717" y="4082233"/>
            <a:ext cx="887600" cy="4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733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/>
          <p:nvPr/>
        </p:nvSpPr>
        <p:spPr>
          <a:xfrm>
            <a:off x="0" y="6429600"/>
            <a:ext cx="3810000" cy="4284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58456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4EA2C01-8E8A-4927-AA54-D60573C5A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7870D6-AAA0-4D4D-B9E4-F037252BC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F9D793-1863-40C4-93B9-B003C08CC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45C40-C800-4004-AB87-290ADBB3CC90}" type="datetimeFigureOut">
              <a:rPr lang="fr-CM" smtClean="0"/>
              <a:t>13/05/2025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ED2CC2-2A70-441A-B7B2-D258BD6AAC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AB02DC-B009-44D1-AFDF-515554913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ACC55-0B4F-4FE3-8F69-B6476C3DB2C6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408439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eschoolconnect.vercel.app/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388AA7-0952-4538-A5DB-4E1396E9A219}"/>
              </a:ext>
            </a:extLst>
          </p:cNvPr>
          <p:cNvSpPr/>
          <p:nvPr/>
        </p:nvSpPr>
        <p:spPr>
          <a:xfrm>
            <a:off x="4372666" y="6076080"/>
            <a:ext cx="3892413" cy="501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154F39-FE84-4B12-BCA5-0D9D04FE290D}"/>
              </a:ext>
            </a:extLst>
          </p:cNvPr>
          <p:cNvSpPr/>
          <p:nvPr/>
        </p:nvSpPr>
        <p:spPr>
          <a:xfrm>
            <a:off x="0" y="0"/>
            <a:ext cx="12191998" cy="687589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88604E-B5FB-4636-9BB5-0565F1EFDB84}"/>
              </a:ext>
            </a:extLst>
          </p:cNvPr>
          <p:cNvSpPr/>
          <p:nvPr/>
        </p:nvSpPr>
        <p:spPr>
          <a:xfrm>
            <a:off x="-3" y="-17664"/>
            <a:ext cx="12192003" cy="14586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    </a:t>
            </a:r>
            <a:endParaRPr lang="fr-CM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8AAF395-2AF0-4EBC-9B19-82889CDD5D74}"/>
              </a:ext>
            </a:extLst>
          </p:cNvPr>
          <p:cNvSpPr txBox="1"/>
          <p:nvPr/>
        </p:nvSpPr>
        <p:spPr>
          <a:xfrm>
            <a:off x="3394257" y="5825976"/>
            <a:ext cx="54034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00B0F0"/>
                </a:solidFill>
                <a:latin typeface="Montserrat SemiBold" pitchFamily="2" charset="0"/>
              </a:rPr>
              <a:t>Dr.FOTUE</a:t>
            </a:r>
            <a:endParaRPr lang="fr-CM" sz="2000" dirty="0">
              <a:solidFill>
                <a:srgbClr val="00B0F0"/>
              </a:solidFill>
              <a:latin typeface="Montserrat SemiBold" pitchFamily="2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7219EBC-07A1-4B61-8B1E-198611D6DAD6}"/>
              </a:ext>
            </a:extLst>
          </p:cNvPr>
          <p:cNvSpPr txBox="1"/>
          <p:nvPr/>
        </p:nvSpPr>
        <p:spPr>
          <a:xfrm>
            <a:off x="1884819" y="4436413"/>
            <a:ext cx="79271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rgbClr val="00B0F0"/>
                </a:solidFill>
                <a:latin typeface="Montserrat SemiBold" pitchFamily="2" charset="0"/>
              </a:rPr>
              <a:t>GHOMSI SIKALI Diane laure</a:t>
            </a:r>
          </a:p>
          <a:p>
            <a:pPr algn="ctr"/>
            <a:r>
              <a:rPr lang="en-CA" sz="2400" dirty="0">
                <a:solidFill>
                  <a:srgbClr val="00B0F0"/>
                </a:solidFill>
                <a:latin typeface="Montserrat SemiBold" pitchFamily="2" charset="0"/>
              </a:rPr>
              <a:t>(Informatique </a:t>
            </a:r>
            <a:r>
              <a:rPr lang="fr-CM" sz="2400" dirty="0">
                <a:solidFill>
                  <a:srgbClr val="00B0F0"/>
                </a:solidFill>
                <a:latin typeface="Montserrat SemiBold" pitchFamily="2" charset="0"/>
              </a:rPr>
              <a:t>Fondamentale</a:t>
            </a:r>
            <a:r>
              <a:rPr lang="en-CA" sz="2400" dirty="0">
                <a:solidFill>
                  <a:srgbClr val="00B0F0"/>
                </a:solidFill>
                <a:latin typeface="Montserrat SemiBold" pitchFamily="2" charset="0"/>
              </a:rPr>
              <a:t>)</a:t>
            </a:r>
            <a:endParaRPr lang="fr-CM" sz="2400" dirty="0">
              <a:solidFill>
                <a:srgbClr val="00B0F0"/>
              </a:solidFill>
              <a:latin typeface="Montserrat SemiBold" pitchFamily="2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EEF2D7C-997C-4643-84DD-97ECC2AA84D5}"/>
              </a:ext>
            </a:extLst>
          </p:cNvPr>
          <p:cNvSpPr txBox="1"/>
          <p:nvPr/>
        </p:nvSpPr>
        <p:spPr>
          <a:xfrm>
            <a:off x="1446852" y="1802955"/>
            <a:ext cx="9150431" cy="1955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fr-FR" sz="2800" dirty="0">
                <a:solidFill>
                  <a:schemeClr val="bg1"/>
                </a:solidFill>
                <a:effectLst/>
                <a:latin typeface="Raleway Black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CONCEPTION ET RÉALISATION D'UN SYSTÈME DYNAMIQUE DE NOTIFICATION DES PARENTS POUR LE SUIVI SCOLAIRE.</a:t>
            </a:r>
            <a:endParaRPr lang="fr-CM" sz="2800" dirty="0">
              <a:solidFill>
                <a:schemeClr val="bg1"/>
              </a:solidFill>
              <a:effectLst/>
              <a:latin typeface="Raleway Black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E464F4A-999C-47EA-B14B-852A35735343}"/>
              </a:ext>
            </a:extLst>
          </p:cNvPr>
          <p:cNvSpPr txBox="1"/>
          <p:nvPr/>
        </p:nvSpPr>
        <p:spPr>
          <a:xfrm>
            <a:off x="5205600" y="5284710"/>
            <a:ext cx="2226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FFFF00"/>
                </a:solidFill>
                <a:latin typeface="Montserrat SemiBold" pitchFamily="2" charset="0"/>
              </a:rPr>
              <a:t>Encadré par:</a:t>
            </a:r>
            <a:endParaRPr lang="fr-CM" sz="2000" dirty="0">
              <a:solidFill>
                <a:srgbClr val="FFFF00"/>
              </a:solidFill>
              <a:latin typeface="Montserrat SemiBold" pitchFamily="2" charset="0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0117819-47B0-4360-82F5-F1783E8EE126}"/>
              </a:ext>
            </a:extLst>
          </p:cNvPr>
          <p:cNvSpPr txBox="1"/>
          <p:nvPr/>
        </p:nvSpPr>
        <p:spPr>
          <a:xfrm>
            <a:off x="3971503" y="3960621"/>
            <a:ext cx="4248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rgbClr val="FFFF00"/>
                </a:solidFill>
                <a:latin typeface="Montserrat SemiBold" pitchFamily="2" charset="0"/>
              </a:rPr>
              <a:t>Rédigé par:</a:t>
            </a:r>
            <a:endParaRPr lang="fr-CM" sz="2400" b="1" dirty="0">
              <a:solidFill>
                <a:srgbClr val="FFFF00"/>
              </a:solidFill>
              <a:latin typeface="Montserrat SemiBold" pitchFamily="2" charset="0"/>
            </a:endParaRPr>
          </a:p>
        </p:txBody>
      </p:sp>
      <p:pic>
        <p:nvPicPr>
          <p:cNvPr id="20" name="officeArt object" descr="Picture 2">
            <a:extLst>
              <a:ext uri="{FF2B5EF4-FFF2-40B4-BE49-F238E27FC236}">
                <a16:creationId xmlns:a16="http://schemas.microsoft.com/office/drawing/2014/main" id="{B7562ACD-20AB-4099-94BD-3244D9035CE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258603" y="-17300"/>
            <a:ext cx="1526931" cy="145796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21" name="officeArt object" descr="Text Box 26">
            <a:extLst>
              <a:ext uri="{FF2B5EF4-FFF2-40B4-BE49-F238E27FC236}">
                <a16:creationId xmlns:a16="http://schemas.microsoft.com/office/drawing/2014/main" id="{6F9E8F77-CA33-4D21-871D-F847BB90D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562" y="110440"/>
            <a:ext cx="2391410" cy="178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rot="0" vert="horz" wrap="square" lIns="45720" tIns="45720" rIns="45720" bIns="45720" anchor="t" anchorCtr="0" upright="1">
            <a:noAutofit/>
          </a:bodyPr>
          <a:lstStyle/>
          <a:p>
            <a:pPr algn="ctr">
              <a:tabLst>
                <a:tab pos="2986405" algn="ctr"/>
                <a:tab pos="5972810" algn="r"/>
              </a:tabLst>
            </a:pPr>
            <a:r>
              <a:rPr lang="fr-CM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RÉPUBLIQUE DU CAMEROUN</a:t>
            </a:r>
            <a:endParaRPr lang="fr-CM" sz="800" dirty="0">
              <a:solidFill>
                <a:schemeClr val="accent1">
                  <a:lumMod val="75000"/>
                </a:schemeClr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tabLst>
                <a:tab pos="2986405" algn="ctr"/>
                <a:tab pos="5972810" algn="r"/>
              </a:tabLst>
            </a:pPr>
            <a:r>
              <a:rPr lang="fr-CM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Paix-travail-patrie</a:t>
            </a:r>
            <a:endParaRPr lang="fr-CM" sz="800" dirty="0">
              <a:solidFill>
                <a:schemeClr val="accent1">
                  <a:lumMod val="75000"/>
                </a:schemeClr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tabLst>
                <a:tab pos="2986405" algn="ctr"/>
                <a:tab pos="5972810" algn="r"/>
              </a:tabLst>
            </a:pPr>
            <a:r>
              <a:rPr lang="fr-CM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********</a:t>
            </a:r>
            <a:endParaRPr lang="fr-CM" sz="800" dirty="0">
              <a:solidFill>
                <a:schemeClr val="accent1">
                  <a:lumMod val="75000"/>
                </a:schemeClr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tabLst>
                <a:tab pos="2986405" algn="ctr"/>
                <a:tab pos="5972810" algn="r"/>
              </a:tabLst>
            </a:pPr>
            <a:r>
              <a:rPr lang="de-DE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UNIVERSIT</a:t>
            </a:r>
            <a:r>
              <a:rPr lang="fr-CM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É DE YAOUNDÉ I</a:t>
            </a:r>
            <a:endParaRPr lang="fr-CM" sz="800" dirty="0">
              <a:solidFill>
                <a:schemeClr val="accent1">
                  <a:lumMod val="75000"/>
                </a:schemeClr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tabLst>
                <a:tab pos="2986405" algn="ctr"/>
                <a:tab pos="5972810" algn="r"/>
              </a:tabLst>
            </a:pPr>
            <a:r>
              <a:rPr lang="fr-CM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*********</a:t>
            </a:r>
            <a:endParaRPr lang="fr-CM" sz="800" dirty="0">
              <a:solidFill>
                <a:schemeClr val="accent1">
                  <a:lumMod val="75000"/>
                </a:schemeClr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tabLst>
                <a:tab pos="2986405" algn="ctr"/>
                <a:tab pos="5972810" algn="r"/>
              </a:tabLst>
            </a:pPr>
            <a:r>
              <a:rPr lang="de-DE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ECOLE NORMALE SUP</a:t>
            </a:r>
            <a:r>
              <a:rPr lang="fr-CM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ÉRIEURE DE YAOUNDÉ</a:t>
            </a:r>
            <a:endParaRPr lang="fr-CM" sz="800" dirty="0">
              <a:solidFill>
                <a:schemeClr val="accent1">
                  <a:lumMod val="75000"/>
                </a:schemeClr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tabLst>
                <a:tab pos="2986405" algn="ctr"/>
                <a:tab pos="5972810" algn="r"/>
              </a:tabLst>
            </a:pPr>
            <a:r>
              <a:rPr lang="fr-CM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******</a:t>
            </a:r>
            <a:endParaRPr lang="fr-CM" sz="800" dirty="0">
              <a:solidFill>
                <a:schemeClr val="accent1">
                  <a:lumMod val="75000"/>
                </a:schemeClr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tabLst>
                <a:tab pos="2986405" algn="ctr"/>
                <a:tab pos="5972810" algn="r"/>
              </a:tabLst>
            </a:pPr>
            <a:r>
              <a:rPr lang="fr-CM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DÉ</a:t>
            </a:r>
            <a:r>
              <a:rPr lang="de-DE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PARTEMENT D’INFORMATIQUE ET</a:t>
            </a:r>
            <a:endParaRPr lang="fr-CM" sz="800" dirty="0">
              <a:solidFill>
                <a:schemeClr val="accent1">
                  <a:lumMod val="75000"/>
                </a:schemeClr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tabLst>
                <a:tab pos="2986405" algn="ctr"/>
                <a:tab pos="5972810" algn="r"/>
              </a:tabLst>
            </a:pPr>
            <a:r>
              <a:rPr lang="de-DE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TECHNOLOGIE EDUCATIVE</a:t>
            </a:r>
            <a:endParaRPr lang="fr-CM" sz="800" dirty="0">
              <a:solidFill>
                <a:schemeClr val="accent1">
                  <a:lumMod val="75000"/>
                </a:schemeClr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tabLst>
                <a:tab pos="2986405" algn="ctr"/>
                <a:tab pos="5972810" algn="r"/>
              </a:tabLst>
            </a:pPr>
            <a:r>
              <a:rPr lang="fr-CM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********</a:t>
            </a:r>
            <a:endParaRPr lang="fr-CM" sz="800" dirty="0">
              <a:solidFill>
                <a:schemeClr val="accent1">
                  <a:lumMod val="75000"/>
                </a:schemeClr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tabLst>
                <a:tab pos="2986405" algn="ctr"/>
                <a:tab pos="5972810" algn="r"/>
              </a:tabLst>
            </a:pPr>
            <a:r>
              <a:rPr lang="fr-CM" sz="800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2" name="Text Box 3" descr="Text Box 25">
            <a:extLst>
              <a:ext uri="{FF2B5EF4-FFF2-40B4-BE49-F238E27FC236}">
                <a16:creationId xmlns:a16="http://schemas.microsoft.com/office/drawing/2014/main" id="{2B0022B0-2518-4B7A-9DE3-DF2EE3231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12018" y="104096"/>
            <a:ext cx="2379980" cy="1849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rot="0" vert="horz" wrap="square" lIns="45720" tIns="45720" rIns="45720" bIns="45720" anchor="t" anchorCtr="0" upright="1">
            <a:noAutofit/>
          </a:bodyPr>
          <a:lstStyle/>
          <a:p>
            <a:pPr algn="ctr">
              <a:tabLst>
                <a:tab pos="2986405" algn="ctr"/>
                <a:tab pos="5972810" algn="r"/>
              </a:tabLst>
            </a:pPr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REPUBLIC OF CAMEROON</a:t>
            </a:r>
            <a:endParaRPr lang="fr-CM" sz="800" dirty="0">
              <a:solidFill>
                <a:schemeClr val="accent1">
                  <a:lumMod val="75000"/>
                </a:schemeClr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tabLst>
                <a:tab pos="2986405" algn="ctr"/>
                <a:tab pos="5972810" algn="r"/>
              </a:tabLst>
            </a:pPr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Peace-work-fatherland</a:t>
            </a:r>
            <a:endParaRPr lang="fr-CM" sz="800" dirty="0">
              <a:solidFill>
                <a:schemeClr val="accent1">
                  <a:lumMod val="75000"/>
                </a:schemeClr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tabLst>
                <a:tab pos="2986405" algn="ctr"/>
                <a:tab pos="5972810" algn="r"/>
              </a:tabLst>
            </a:pPr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***********</a:t>
            </a:r>
            <a:endParaRPr lang="fr-CM" sz="800" dirty="0">
              <a:solidFill>
                <a:schemeClr val="accent1">
                  <a:lumMod val="75000"/>
                </a:schemeClr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tabLst>
                <a:tab pos="2986405" algn="ctr"/>
                <a:tab pos="5972810" algn="r"/>
              </a:tabLst>
            </a:pPr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THE UNIVERSITY OF YAOUNDÉ I</a:t>
            </a:r>
            <a:endParaRPr lang="fr-CM" sz="800" dirty="0">
              <a:solidFill>
                <a:schemeClr val="accent1">
                  <a:lumMod val="75000"/>
                </a:schemeClr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tabLst>
                <a:tab pos="2986405" algn="ctr"/>
                <a:tab pos="5972810" algn="r"/>
              </a:tabLst>
            </a:pPr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***********</a:t>
            </a:r>
            <a:endParaRPr lang="fr-CM" sz="800" dirty="0">
              <a:solidFill>
                <a:schemeClr val="accent1">
                  <a:lumMod val="75000"/>
                </a:schemeClr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tabLst>
                <a:tab pos="2986405" algn="ctr"/>
                <a:tab pos="5972810" algn="r"/>
              </a:tabLst>
            </a:pPr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HIGHER TEACHER’S TRAINING COLLEGE </a:t>
            </a:r>
            <a:endParaRPr lang="fr-CM" sz="800" dirty="0">
              <a:solidFill>
                <a:schemeClr val="accent1">
                  <a:lumMod val="75000"/>
                </a:schemeClr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tabLst>
                <a:tab pos="2986405" algn="ctr"/>
                <a:tab pos="5972810" algn="r"/>
              </a:tabLst>
            </a:pPr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***********</a:t>
            </a:r>
            <a:endParaRPr lang="fr-CM" sz="800" dirty="0">
              <a:solidFill>
                <a:schemeClr val="accent1">
                  <a:lumMod val="75000"/>
                </a:schemeClr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tabLst>
                <a:tab pos="2986405" algn="ctr"/>
                <a:tab pos="5972810" algn="r"/>
              </a:tabLst>
            </a:pPr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SCIENCE</a:t>
            </a:r>
            <a:endParaRPr lang="fr-CM" sz="800" dirty="0">
              <a:solidFill>
                <a:schemeClr val="accent1">
                  <a:lumMod val="75000"/>
                </a:schemeClr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tabLst>
                <a:tab pos="2986405" algn="ctr"/>
                <a:tab pos="5972810" algn="r"/>
              </a:tabLst>
            </a:pPr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AND EDUCATIONAL TECHNOLOGY</a:t>
            </a:r>
            <a:endParaRPr lang="fr-CM" sz="800" dirty="0">
              <a:solidFill>
                <a:schemeClr val="accent1">
                  <a:lumMod val="75000"/>
                </a:schemeClr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tabLst>
                <a:tab pos="2986405" algn="ctr"/>
                <a:tab pos="5972810" algn="r"/>
              </a:tabLst>
            </a:pPr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********</a:t>
            </a:r>
            <a:endParaRPr lang="fr-CM" sz="800" dirty="0">
              <a:solidFill>
                <a:schemeClr val="accent1">
                  <a:lumMod val="75000"/>
                </a:schemeClr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tabLst>
                <a:tab pos="2986405" algn="ctr"/>
                <a:tab pos="5972810" algn="r"/>
              </a:tabLst>
            </a:pPr>
            <a:r>
              <a:rPr lang="fr-CM" sz="800" dirty="0">
                <a:solidFill>
                  <a:schemeClr val="accent1">
                    <a:lumMod val="75000"/>
                  </a:schemeClr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8270A19-9FCC-43EF-A418-C71007D88436}"/>
              </a:ext>
            </a:extLst>
          </p:cNvPr>
          <p:cNvSpPr/>
          <p:nvPr/>
        </p:nvSpPr>
        <p:spPr>
          <a:xfrm>
            <a:off x="4215923" y="6440170"/>
            <a:ext cx="3264991" cy="35952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266DB59-C33E-4181-BF98-CFF3026593AB}"/>
              </a:ext>
            </a:extLst>
          </p:cNvPr>
          <p:cNvSpPr txBox="1"/>
          <p:nvPr/>
        </p:nvSpPr>
        <p:spPr>
          <a:xfrm>
            <a:off x="3694018" y="6430366"/>
            <a:ext cx="4248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00B0F0"/>
                </a:solidFill>
                <a:latin typeface="Montserrat SemiBold" pitchFamily="2" charset="0"/>
              </a:rPr>
              <a:t>Année scolaire:2024-2025</a:t>
            </a:r>
            <a:endParaRPr lang="fr-CM" dirty="0">
              <a:solidFill>
                <a:srgbClr val="00B0F0"/>
              </a:solidFill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956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73782C-1E74-47D0-BA77-C1BE19D70F29}"/>
              </a:ext>
            </a:extLst>
          </p:cNvPr>
          <p:cNvSpPr/>
          <p:nvPr/>
        </p:nvSpPr>
        <p:spPr>
          <a:xfrm>
            <a:off x="3629025" y="0"/>
            <a:ext cx="8562975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822F13D-5211-40B0-9659-74E76FA2704E}"/>
              </a:ext>
            </a:extLst>
          </p:cNvPr>
          <p:cNvSpPr txBox="1"/>
          <p:nvPr/>
        </p:nvSpPr>
        <p:spPr>
          <a:xfrm>
            <a:off x="228600" y="3286125"/>
            <a:ext cx="3028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600" b="1" dirty="0">
                <a:solidFill>
                  <a:srgbClr val="0070C0"/>
                </a:solidFill>
                <a:latin typeface="Raleway SemiBold" pitchFamily="2" charset="0"/>
              </a:rPr>
              <a:t>PLAN </a:t>
            </a:r>
            <a:endParaRPr lang="fr-CM" sz="3600" b="1" dirty="0">
              <a:solidFill>
                <a:srgbClr val="0070C0"/>
              </a:solidFill>
              <a:latin typeface="Raleway SemiBold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6B3E499-3757-4A92-B9A3-B0A24ACDCCB7}"/>
              </a:ext>
            </a:extLst>
          </p:cNvPr>
          <p:cNvSpPr txBox="1"/>
          <p:nvPr/>
        </p:nvSpPr>
        <p:spPr>
          <a:xfrm>
            <a:off x="4326990" y="948110"/>
            <a:ext cx="8029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M" sz="2800" dirty="0">
                <a:solidFill>
                  <a:schemeClr val="bg1"/>
                </a:solidFill>
                <a:latin typeface="Raleway SemiBold" pitchFamily="2" charset="0"/>
              </a:rPr>
              <a:t>Contexte et motivation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EAF651F-ED4B-4E8A-A44D-5E537349BE1E}"/>
              </a:ext>
            </a:extLst>
          </p:cNvPr>
          <p:cNvSpPr txBox="1"/>
          <p:nvPr/>
        </p:nvSpPr>
        <p:spPr>
          <a:xfrm>
            <a:off x="4272397" y="1977725"/>
            <a:ext cx="8029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M" sz="2800" dirty="0">
                <a:solidFill>
                  <a:schemeClr val="bg1"/>
                </a:solidFill>
                <a:latin typeface="Raleway SemiBold" pitchFamily="2" charset="0"/>
              </a:rPr>
              <a:t>Problématique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8CEEF9D-A5E1-4399-8D80-FCF4CD235B0A}"/>
              </a:ext>
            </a:extLst>
          </p:cNvPr>
          <p:cNvSpPr txBox="1"/>
          <p:nvPr/>
        </p:nvSpPr>
        <p:spPr>
          <a:xfrm>
            <a:off x="4326985" y="3007340"/>
            <a:ext cx="8029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M" sz="2800" dirty="0">
                <a:solidFill>
                  <a:schemeClr val="bg1"/>
                </a:solidFill>
                <a:latin typeface="Raleway SemiBold" pitchFamily="2" charset="0"/>
              </a:rPr>
              <a:t>Etat  de l’art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3A4C8BA-4F53-4549-BEF4-BEC07F4EADF1}"/>
              </a:ext>
            </a:extLst>
          </p:cNvPr>
          <p:cNvSpPr txBox="1"/>
          <p:nvPr/>
        </p:nvSpPr>
        <p:spPr>
          <a:xfrm>
            <a:off x="4272397" y="4088324"/>
            <a:ext cx="8029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solidFill>
                  <a:schemeClr val="bg1"/>
                </a:solidFill>
                <a:latin typeface="Raleway SemiBold" pitchFamily="2" charset="0"/>
              </a:rPr>
              <a:t>Proposition</a:t>
            </a:r>
            <a:endParaRPr lang="fr-CM" sz="2800" dirty="0">
              <a:solidFill>
                <a:schemeClr val="bg1"/>
              </a:solidFill>
              <a:latin typeface="Raleway SemiBold" pitchFamily="2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DFF5CE6-5254-41C7-8103-FCD0F819454D}"/>
              </a:ext>
            </a:extLst>
          </p:cNvPr>
          <p:cNvSpPr txBox="1"/>
          <p:nvPr/>
        </p:nvSpPr>
        <p:spPr>
          <a:xfrm>
            <a:off x="4326990" y="4972455"/>
            <a:ext cx="8029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solidFill>
                  <a:schemeClr val="bg1"/>
                </a:solidFill>
                <a:latin typeface="Raleway SemiBold" pitchFamily="2" charset="0"/>
              </a:rPr>
              <a:t>Conclusion</a:t>
            </a:r>
            <a:endParaRPr lang="fr-CM" sz="2800" dirty="0">
              <a:solidFill>
                <a:schemeClr val="bg1"/>
              </a:solidFill>
              <a:latin typeface="Raleway SemiBold" pitchFamily="2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A36DEC8-A6C9-4FFF-85F8-A388958335F8}"/>
              </a:ext>
            </a:extLst>
          </p:cNvPr>
          <p:cNvSpPr txBox="1"/>
          <p:nvPr/>
        </p:nvSpPr>
        <p:spPr>
          <a:xfrm>
            <a:off x="4326986" y="5627811"/>
            <a:ext cx="8029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solidFill>
                  <a:schemeClr val="bg1"/>
                </a:solidFill>
                <a:latin typeface="Raleway SemiBold" pitchFamily="2" charset="0"/>
              </a:rPr>
              <a:t>Perspectives</a:t>
            </a:r>
            <a:endParaRPr lang="fr-CM" sz="2800" dirty="0">
              <a:solidFill>
                <a:schemeClr val="bg1"/>
              </a:solidFill>
              <a:latin typeface="Raleway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59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lipse 5">
            <a:extLst>
              <a:ext uri="{FF2B5EF4-FFF2-40B4-BE49-F238E27FC236}">
                <a16:creationId xmlns:a16="http://schemas.microsoft.com/office/drawing/2014/main" id="{5D34EBFB-7522-4C4C-B0C6-0984607464E1}"/>
              </a:ext>
            </a:extLst>
          </p:cNvPr>
          <p:cNvSpPr/>
          <p:nvPr/>
        </p:nvSpPr>
        <p:spPr>
          <a:xfrm rot="415551">
            <a:off x="11079127" y="5806347"/>
            <a:ext cx="1471612" cy="145732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04101DF2-A966-48F2-B7AB-51603852CAD0}"/>
              </a:ext>
            </a:extLst>
          </p:cNvPr>
          <p:cNvSpPr/>
          <p:nvPr/>
        </p:nvSpPr>
        <p:spPr>
          <a:xfrm>
            <a:off x="-185720" y="5722937"/>
            <a:ext cx="1554973" cy="153987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1" name="Triangle isocèle 10">
            <a:extLst>
              <a:ext uri="{FF2B5EF4-FFF2-40B4-BE49-F238E27FC236}">
                <a16:creationId xmlns:a16="http://schemas.microsoft.com/office/drawing/2014/main" id="{21E1DA6C-760C-42D8-A927-FE176B3DCF8B}"/>
              </a:ext>
            </a:extLst>
          </p:cNvPr>
          <p:cNvSpPr/>
          <p:nvPr/>
        </p:nvSpPr>
        <p:spPr>
          <a:xfrm rot="5577808">
            <a:off x="-136756" y="7171"/>
            <a:ext cx="859597" cy="720725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cxnSp>
        <p:nvCxnSpPr>
          <p:cNvPr id="13" name="Google Shape;315;p39">
            <a:extLst>
              <a:ext uri="{FF2B5EF4-FFF2-40B4-BE49-F238E27FC236}">
                <a16:creationId xmlns:a16="http://schemas.microsoft.com/office/drawing/2014/main" id="{86818029-A80E-4B8F-9B21-016E6018C350}"/>
              </a:ext>
            </a:extLst>
          </p:cNvPr>
          <p:cNvCxnSpPr/>
          <p:nvPr/>
        </p:nvCxnSpPr>
        <p:spPr>
          <a:xfrm>
            <a:off x="463234" y="922670"/>
            <a:ext cx="396461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Google Shape;264;p35">
            <a:extLst>
              <a:ext uri="{FF2B5EF4-FFF2-40B4-BE49-F238E27FC236}">
                <a16:creationId xmlns:a16="http://schemas.microsoft.com/office/drawing/2014/main" id="{E5F21122-D9D7-4703-BD70-6051422DFE21}"/>
              </a:ext>
            </a:extLst>
          </p:cNvPr>
          <p:cNvSpPr txBox="1">
            <a:spLocks/>
          </p:cNvSpPr>
          <p:nvPr/>
        </p:nvSpPr>
        <p:spPr>
          <a:xfrm>
            <a:off x="834587" y="255223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accent2"/>
              </a:buClr>
              <a:buSzPts val="1100"/>
              <a:buFont typeface="Arial"/>
              <a:buNone/>
            </a:pPr>
            <a:r>
              <a:rPr lang="en-CA" dirty="0">
                <a:solidFill>
                  <a:schemeClr val="accent1"/>
                </a:solidFill>
                <a:latin typeface="Raleway Bold" pitchFamily="2" charset="0"/>
              </a:rPr>
              <a:t>CONTEXTE &amp; MOTIVATION</a:t>
            </a:r>
            <a:endParaRPr lang="fr-CM" dirty="0">
              <a:solidFill>
                <a:schemeClr val="accent1"/>
              </a:solidFill>
              <a:latin typeface="Raleway Bold" pitchFamily="2" charset="0"/>
            </a:endParaRPr>
          </a:p>
        </p:txBody>
      </p:sp>
      <p:sp>
        <p:nvSpPr>
          <p:cNvPr id="16" name="Google Shape;275;p35">
            <a:extLst>
              <a:ext uri="{FF2B5EF4-FFF2-40B4-BE49-F238E27FC236}">
                <a16:creationId xmlns:a16="http://schemas.microsoft.com/office/drawing/2014/main" id="{8944A77E-D889-44B8-9610-0D56CDAB9C3A}"/>
              </a:ext>
            </a:extLst>
          </p:cNvPr>
          <p:cNvSpPr/>
          <p:nvPr/>
        </p:nvSpPr>
        <p:spPr>
          <a:xfrm>
            <a:off x="10317803" y="-714939"/>
            <a:ext cx="2981400" cy="2981400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276;p35">
            <a:extLst>
              <a:ext uri="{FF2B5EF4-FFF2-40B4-BE49-F238E27FC236}">
                <a16:creationId xmlns:a16="http://schemas.microsoft.com/office/drawing/2014/main" id="{DB38A94C-CA4A-45AD-93BE-E50BF85FA6DC}"/>
              </a:ext>
            </a:extLst>
          </p:cNvPr>
          <p:cNvSpPr/>
          <p:nvPr/>
        </p:nvSpPr>
        <p:spPr>
          <a:xfrm>
            <a:off x="-761973" y="-7453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CC6F464-3BA1-4CE4-A607-D75681D6207A}"/>
              </a:ext>
            </a:extLst>
          </p:cNvPr>
          <p:cNvSpPr txBox="1"/>
          <p:nvPr/>
        </p:nvSpPr>
        <p:spPr>
          <a:xfrm>
            <a:off x="1123660" y="1419549"/>
            <a:ext cx="83914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CM" sz="24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les parents sont de moins en moins informés des comportements et événements scolaires liés à leurs enfants. </a:t>
            </a:r>
            <a:endParaRPr lang="fr-CM" sz="24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F3EAD59-0245-45DE-B20A-88AAA85931D9}"/>
              </a:ext>
            </a:extLst>
          </p:cNvPr>
          <p:cNvSpPr txBox="1"/>
          <p:nvPr/>
        </p:nvSpPr>
        <p:spPr>
          <a:xfrm>
            <a:off x="1123660" y="2788595"/>
            <a:ext cx="71393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CM" sz="24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certains élèves dissimulent leurs notes</a:t>
            </a:r>
            <a:endParaRPr lang="fr-CM" sz="24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5DCB7E6-1553-499D-B773-5E6AD42DAFCC}"/>
              </a:ext>
            </a:extLst>
          </p:cNvPr>
          <p:cNvSpPr txBox="1"/>
          <p:nvPr/>
        </p:nvSpPr>
        <p:spPr>
          <a:xfrm>
            <a:off x="1123660" y="3592565"/>
            <a:ext cx="71393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CM" sz="24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concevoir une </a:t>
            </a:r>
            <a:r>
              <a:rPr lang="fr-CM" sz="2400" b="1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plateforme de notification scolaire</a:t>
            </a:r>
            <a:r>
              <a:rPr lang="fr-CM" sz="24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dans le but de renforcer l’implication parentale</a:t>
            </a:r>
            <a:endParaRPr lang="fr-CM" sz="2400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BCF4084-8FBF-468A-A128-A0985D2E757C}"/>
              </a:ext>
            </a:extLst>
          </p:cNvPr>
          <p:cNvSpPr txBox="1"/>
          <p:nvPr/>
        </p:nvSpPr>
        <p:spPr>
          <a:xfrm>
            <a:off x="1854757" y="4904366"/>
            <a:ext cx="71393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CM" sz="2400" b="1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Faciliter l’accès à l’information</a:t>
            </a:r>
            <a:r>
              <a:rPr lang="fr-CM" sz="24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CM" sz="2400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400B709-9D6F-45B6-9F95-7D0ABA062EE7}"/>
              </a:ext>
            </a:extLst>
          </p:cNvPr>
          <p:cNvSpPr txBox="1"/>
          <p:nvPr/>
        </p:nvSpPr>
        <p:spPr>
          <a:xfrm>
            <a:off x="1843123" y="5374622"/>
            <a:ext cx="89043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CM" sz="2400" b="1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Renforcer la communication entre l’école et les parents</a:t>
            </a:r>
            <a:r>
              <a:rPr lang="fr-CM" sz="24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CM" sz="24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6B96DCB-CE11-4A34-A782-FCDD2C72DB52}"/>
              </a:ext>
            </a:extLst>
          </p:cNvPr>
          <p:cNvSpPr txBox="1"/>
          <p:nvPr/>
        </p:nvSpPr>
        <p:spPr>
          <a:xfrm>
            <a:off x="1854757" y="5896756"/>
            <a:ext cx="71393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CM" sz="2400" b="1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Promouvoir l’engagement des parents</a:t>
            </a:r>
            <a:r>
              <a:rPr lang="fr-CM" sz="24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CM" sz="2400" dirty="0"/>
          </a:p>
        </p:txBody>
      </p:sp>
    </p:spTree>
    <p:extLst>
      <p:ext uri="{BB962C8B-B14F-4D97-AF65-F5344CB8AC3E}">
        <p14:creationId xmlns:p14="http://schemas.microsoft.com/office/powerpoint/2010/main" val="180323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8" grpId="0" animBg="1"/>
      <p:bldP spid="12" grpId="0"/>
      <p:bldP spid="17" grpId="0"/>
      <p:bldP spid="20" grpId="0"/>
      <p:bldP spid="21" grpId="0"/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965C5C-67C2-4F2A-99B8-B1E8CE590593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M" dirty="0">
                <a:solidFill>
                  <a:schemeClr val="accent1"/>
                </a:solidFill>
                <a:latin typeface="Raleway Bold" pitchFamily="2" charset="0"/>
              </a:rPr>
              <a:t>   </a:t>
            </a:r>
          </a:p>
        </p:txBody>
      </p:sp>
      <p:sp>
        <p:nvSpPr>
          <p:cNvPr id="264" name="Google Shape;264;p35"/>
          <p:cNvSpPr txBox="1">
            <a:spLocks noGrp="1"/>
          </p:cNvSpPr>
          <p:nvPr>
            <p:ph type="title" idx="6"/>
          </p:nvPr>
        </p:nvSpPr>
        <p:spPr>
          <a:xfrm>
            <a:off x="951000" y="324982"/>
            <a:ext cx="10290000" cy="63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buClr>
                <a:schemeClr val="accent2"/>
              </a:buClr>
              <a:buSzPts val="1100"/>
            </a:pPr>
            <a:r>
              <a:rPr lang="fr-CM" dirty="0">
                <a:solidFill>
                  <a:schemeClr val="accent1"/>
                </a:solidFill>
                <a:latin typeface="Raleway Bold" pitchFamily="2" charset="0"/>
              </a:rPr>
              <a:t>Problématique</a:t>
            </a:r>
            <a:r>
              <a:rPr lang="en" dirty="0">
                <a:solidFill>
                  <a:schemeClr val="accent1"/>
                </a:solidFill>
                <a:latin typeface="Raleway Bold" pitchFamily="2" charset="0"/>
              </a:rPr>
              <a:t>:</a:t>
            </a:r>
            <a:endParaRPr dirty="0">
              <a:solidFill>
                <a:schemeClr val="accent1"/>
              </a:solidFill>
              <a:latin typeface="Raleway Bold" pitchFamily="2" charset="0"/>
            </a:endParaRPr>
          </a:p>
        </p:txBody>
      </p:sp>
      <p:sp>
        <p:nvSpPr>
          <p:cNvPr id="276" name="Google Shape;276;p35"/>
          <p:cNvSpPr/>
          <p:nvPr/>
        </p:nvSpPr>
        <p:spPr>
          <a:xfrm>
            <a:off x="10580316" y="-597052"/>
            <a:ext cx="1987600" cy="1987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31" name="Google Shape;276;p35"/>
          <p:cNvSpPr/>
          <p:nvPr/>
        </p:nvSpPr>
        <p:spPr>
          <a:xfrm>
            <a:off x="-623686" y="5467451"/>
            <a:ext cx="1987600" cy="1987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165F49-A244-43C0-BAF9-804D5CAC6B13}"/>
              </a:ext>
            </a:extLst>
          </p:cNvPr>
          <p:cNvSpPr/>
          <p:nvPr/>
        </p:nvSpPr>
        <p:spPr>
          <a:xfrm>
            <a:off x="951000" y="962582"/>
            <a:ext cx="4124583" cy="806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3" name="Google Shape;560;p50">
            <a:extLst>
              <a:ext uri="{FF2B5EF4-FFF2-40B4-BE49-F238E27FC236}">
                <a16:creationId xmlns:a16="http://schemas.microsoft.com/office/drawing/2014/main" id="{C48798C6-3C00-4A36-A56A-DB1AD1B2C7BA}"/>
              </a:ext>
            </a:extLst>
          </p:cNvPr>
          <p:cNvSpPr/>
          <p:nvPr/>
        </p:nvSpPr>
        <p:spPr>
          <a:xfrm>
            <a:off x="25800" y="79830"/>
            <a:ext cx="899400" cy="899400"/>
          </a:xfrm>
          <a:prstGeom prst="ellipse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4" name="Google Shape;582;p50">
            <a:extLst>
              <a:ext uri="{FF2B5EF4-FFF2-40B4-BE49-F238E27FC236}">
                <a16:creationId xmlns:a16="http://schemas.microsoft.com/office/drawing/2014/main" id="{7A66276F-E68A-4439-83FD-919520DA4AD8}"/>
              </a:ext>
            </a:extLst>
          </p:cNvPr>
          <p:cNvGrpSpPr/>
          <p:nvPr/>
        </p:nvGrpSpPr>
        <p:grpSpPr>
          <a:xfrm>
            <a:off x="356249" y="396748"/>
            <a:ext cx="238502" cy="329716"/>
            <a:chOff x="-38129425" y="3222550"/>
            <a:chExt cx="228450" cy="315850"/>
          </a:xfrm>
        </p:grpSpPr>
        <p:sp>
          <p:nvSpPr>
            <p:cNvPr id="15" name="Google Shape;583;p50">
              <a:extLst>
                <a:ext uri="{FF2B5EF4-FFF2-40B4-BE49-F238E27FC236}">
                  <a16:creationId xmlns:a16="http://schemas.microsoft.com/office/drawing/2014/main" id="{FAA76C01-484E-483E-A98B-61A2FCEF6614}"/>
                </a:ext>
              </a:extLst>
            </p:cNvPr>
            <p:cNvSpPr/>
            <p:nvPr/>
          </p:nvSpPr>
          <p:spPr>
            <a:xfrm>
              <a:off x="-38129425" y="3222550"/>
              <a:ext cx="228450" cy="227650"/>
            </a:xfrm>
            <a:custGeom>
              <a:avLst/>
              <a:gdLst/>
              <a:ahLst/>
              <a:cxnLst/>
              <a:rect l="l" t="t" r="r" b="b"/>
              <a:pathLst>
                <a:path w="9138" h="9106" extrusionOk="0">
                  <a:moveTo>
                    <a:pt x="4097" y="1292"/>
                  </a:moveTo>
                  <a:cubicBezTo>
                    <a:pt x="4349" y="1292"/>
                    <a:pt x="4538" y="1450"/>
                    <a:pt x="4538" y="1702"/>
                  </a:cubicBezTo>
                  <a:cubicBezTo>
                    <a:pt x="4538" y="1922"/>
                    <a:pt x="4349" y="2111"/>
                    <a:pt x="4160" y="2111"/>
                  </a:cubicBezTo>
                  <a:cubicBezTo>
                    <a:pt x="2994" y="2111"/>
                    <a:pt x="2112" y="3056"/>
                    <a:pt x="2049" y="4222"/>
                  </a:cubicBezTo>
                  <a:cubicBezTo>
                    <a:pt x="2049" y="4443"/>
                    <a:pt x="1860" y="4600"/>
                    <a:pt x="1639" y="4600"/>
                  </a:cubicBezTo>
                  <a:cubicBezTo>
                    <a:pt x="1387" y="4600"/>
                    <a:pt x="1198" y="4411"/>
                    <a:pt x="1198" y="4222"/>
                  </a:cubicBezTo>
                  <a:cubicBezTo>
                    <a:pt x="1198" y="2584"/>
                    <a:pt x="2490" y="1324"/>
                    <a:pt x="4097" y="1292"/>
                  </a:cubicBezTo>
                  <a:close/>
                  <a:moveTo>
                    <a:pt x="4569" y="0"/>
                  </a:moveTo>
                  <a:cubicBezTo>
                    <a:pt x="2049" y="0"/>
                    <a:pt x="1" y="2048"/>
                    <a:pt x="1" y="4569"/>
                  </a:cubicBezTo>
                  <a:cubicBezTo>
                    <a:pt x="1" y="6207"/>
                    <a:pt x="946" y="7688"/>
                    <a:pt x="2332" y="8475"/>
                  </a:cubicBezTo>
                  <a:cubicBezTo>
                    <a:pt x="2458" y="8507"/>
                    <a:pt x="2521" y="8664"/>
                    <a:pt x="2521" y="8822"/>
                  </a:cubicBezTo>
                  <a:lnTo>
                    <a:pt x="2521" y="9105"/>
                  </a:lnTo>
                  <a:lnTo>
                    <a:pt x="6680" y="9105"/>
                  </a:lnTo>
                  <a:lnTo>
                    <a:pt x="6680" y="8822"/>
                  </a:lnTo>
                  <a:cubicBezTo>
                    <a:pt x="6680" y="8696"/>
                    <a:pt x="6743" y="8570"/>
                    <a:pt x="6900" y="8507"/>
                  </a:cubicBezTo>
                  <a:cubicBezTo>
                    <a:pt x="8255" y="7719"/>
                    <a:pt x="9137" y="6270"/>
                    <a:pt x="9137" y="4569"/>
                  </a:cubicBezTo>
                  <a:cubicBezTo>
                    <a:pt x="9137" y="2048"/>
                    <a:pt x="7089" y="32"/>
                    <a:pt x="45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584;p50">
              <a:extLst>
                <a:ext uri="{FF2B5EF4-FFF2-40B4-BE49-F238E27FC236}">
                  <a16:creationId xmlns:a16="http://schemas.microsoft.com/office/drawing/2014/main" id="{87E7505C-4CB0-466D-BEB3-69EF19E6400A}"/>
                </a:ext>
              </a:extLst>
            </p:cNvPr>
            <p:cNvSpPr/>
            <p:nvPr/>
          </p:nvSpPr>
          <p:spPr>
            <a:xfrm>
              <a:off x="-38067200" y="3470650"/>
              <a:ext cx="103200" cy="67750"/>
            </a:xfrm>
            <a:custGeom>
              <a:avLst/>
              <a:gdLst/>
              <a:ahLst/>
              <a:cxnLst/>
              <a:rect l="l" t="t" r="r" b="b"/>
              <a:pathLst>
                <a:path w="4128" h="2710" extrusionOk="0">
                  <a:moveTo>
                    <a:pt x="1" y="0"/>
                  </a:moveTo>
                  <a:lnTo>
                    <a:pt x="1" y="662"/>
                  </a:lnTo>
                  <a:cubicBezTo>
                    <a:pt x="1" y="1198"/>
                    <a:pt x="410" y="1702"/>
                    <a:pt x="883" y="1859"/>
                  </a:cubicBezTo>
                  <a:cubicBezTo>
                    <a:pt x="1040" y="2363"/>
                    <a:pt x="1513" y="2710"/>
                    <a:pt x="2049" y="2710"/>
                  </a:cubicBezTo>
                  <a:cubicBezTo>
                    <a:pt x="2647" y="2710"/>
                    <a:pt x="3120" y="2363"/>
                    <a:pt x="3277" y="1859"/>
                  </a:cubicBezTo>
                  <a:cubicBezTo>
                    <a:pt x="3781" y="1702"/>
                    <a:pt x="4128" y="1198"/>
                    <a:pt x="4128" y="662"/>
                  </a:cubicBezTo>
                  <a:lnTo>
                    <a:pt x="412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DD4D1592-8BB4-4C44-B333-C0854AE5EDA6}"/>
              </a:ext>
            </a:extLst>
          </p:cNvPr>
          <p:cNvGrpSpPr/>
          <p:nvPr/>
        </p:nvGrpSpPr>
        <p:grpSpPr>
          <a:xfrm>
            <a:off x="344687" y="1798641"/>
            <a:ext cx="1343928" cy="500128"/>
            <a:chOff x="344687" y="1798641"/>
            <a:chExt cx="1343928" cy="500128"/>
          </a:xfrm>
        </p:grpSpPr>
        <p:sp>
          <p:nvSpPr>
            <p:cNvPr id="12" name="Google Shape;303;p38">
              <a:extLst>
                <a:ext uri="{FF2B5EF4-FFF2-40B4-BE49-F238E27FC236}">
                  <a16:creationId xmlns:a16="http://schemas.microsoft.com/office/drawing/2014/main" id="{CECE6654-BB4B-4494-A131-F26A21F7F5DB}"/>
                </a:ext>
              </a:extLst>
            </p:cNvPr>
            <p:cNvSpPr/>
            <p:nvPr/>
          </p:nvSpPr>
          <p:spPr>
            <a:xfrm>
              <a:off x="344687" y="1798641"/>
              <a:ext cx="500128" cy="500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14313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800" dirty="0">
                  <a:solidFill>
                    <a:schemeClr val="tx2">
                      <a:lumMod val="75000"/>
                    </a:schemeClr>
                  </a:solidFill>
                </a:rPr>
                <a:t>!</a:t>
              </a:r>
              <a:endParaRPr sz="28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cxnSp>
          <p:nvCxnSpPr>
            <p:cNvPr id="18" name="Google Shape;305;p38">
              <a:extLst>
                <a:ext uri="{FF2B5EF4-FFF2-40B4-BE49-F238E27FC236}">
                  <a16:creationId xmlns:a16="http://schemas.microsoft.com/office/drawing/2014/main" id="{215BA394-F0FE-43AE-8483-A823B67A8145}"/>
                </a:ext>
              </a:extLst>
            </p:cNvPr>
            <p:cNvCxnSpPr/>
            <p:nvPr/>
          </p:nvCxnSpPr>
          <p:spPr>
            <a:xfrm>
              <a:off x="844815" y="2048705"/>
              <a:ext cx="843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71901F94-8F21-44B8-AC1F-935347888DBF}"/>
              </a:ext>
            </a:extLst>
          </p:cNvPr>
          <p:cNvGrpSpPr/>
          <p:nvPr/>
        </p:nvGrpSpPr>
        <p:grpSpPr>
          <a:xfrm>
            <a:off x="356249" y="3664419"/>
            <a:ext cx="1343928" cy="500128"/>
            <a:chOff x="356249" y="3664419"/>
            <a:chExt cx="1343928" cy="500128"/>
          </a:xfrm>
        </p:grpSpPr>
        <p:sp>
          <p:nvSpPr>
            <p:cNvPr id="17" name="Google Shape;303;p38">
              <a:extLst>
                <a:ext uri="{FF2B5EF4-FFF2-40B4-BE49-F238E27FC236}">
                  <a16:creationId xmlns:a16="http://schemas.microsoft.com/office/drawing/2014/main" id="{B542873B-5248-4C47-8B0B-8597A58E1806}"/>
                </a:ext>
              </a:extLst>
            </p:cNvPr>
            <p:cNvSpPr/>
            <p:nvPr/>
          </p:nvSpPr>
          <p:spPr>
            <a:xfrm>
              <a:off x="356249" y="3664419"/>
              <a:ext cx="500128" cy="50012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214313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800" b="1" dirty="0">
                  <a:solidFill>
                    <a:schemeClr val="tx2">
                      <a:lumMod val="75000"/>
                    </a:schemeClr>
                  </a:solidFill>
                </a:rPr>
                <a:t>!</a:t>
              </a:r>
              <a:endParaRPr sz="2800" b="1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cxnSp>
          <p:nvCxnSpPr>
            <p:cNvPr id="19" name="Google Shape;305;p38">
              <a:extLst>
                <a:ext uri="{FF2B5EF4-FFF2-40B4-BE49-F238E27FC236}">
                  <a16:creationId xmlns:a16="http://schemas.microsoft.com/office/drawing/2014/main" id="{3E1996D1-10B4-4949-982E-D333941C4286}"/>
                </a:ext>
              </a:extLst>
            </p:cNvPr>
            <p:cNvCxnSpPr/>
            <p:nvPr/>
          </p:nvCxnSpPr>
          <p:spPr>
            <a:xfrm>
              <a:off x="856377" y="3872945"/>
              <a:ext cx="843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4A741A2D-68EF-44C1-B599-EECA8E476723}"/>
              </a:ext>
            </a:extLst>
          </p:cNvPr>
          <p:cNvSpPr txBox="1"/>
          <p:nvPr/>
        </p:nvSpPr>
        <p:spPr>
          <a:xfrm>
            <a:off x="1864042" y="3214872"/>
            <a:ext cx="897773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CM" sz="28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Comment élaborer et mettre en œuvre un système dynamique de notification pour les parents, afin de les tenir informés des absences, des performances académiques et des  événements majeurs liés à leurs enfants    </a:t>
            </a:r>
            <a:endParaRPr lang="fr-CM" sz="2800" dirty="0">
              <a:latin typeface="Raleway" pitchFamily="2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7D1420E6-0ACE-4F27-84A5-B9D16DD8601D}"/>
              </a:ext>
            </a:extLst>
          </p:cNvPr>
          <p:cNvSpPr txBox="1"/>
          <p:nvPr/>
        </p:nvSpPr>
        <p:spPr>
          <a:xfrm>
            <a:off x="1779104" y="1559634"/>
            <a:ext cx="87033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fr-FR" sz="2800" dirty="0">
                <a:solidFill>
                  <a:schemeClr val="bg1">
                    <a:lumMod val="10000"/>
                  </a:schemeClr>
                </a:solidFill>
                <a:latin typeface="Raleway" pitchFamily="2" charset="0"/>
              </a:rPr>
              <a:t>Etant donnée que les parents ne sont plus directement impliquer Dans le processus éducatif de leurs enfants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" grpId="0"/>
      <p:bldP spid="276" grpId="0" animBg="1"/>
      <p:bldP spid="31" grpId="0" animBg="1"/>
      <p:bldP spid="13" grpId="0" animBg="1"/>
      <p:bldP spid="21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965C5C-67C2-4F2A-99B8-B1E8CE590593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M" dirty="0">
                <a:solidFill>
                  <a:schemeClr val="accent1"/>
                </a:solidFill>
                <a:latin typeface="Raleway Bold" pitchFamily="2" charset="0"/>
              </a:rPr>
              <a:t>   </a:t>
            </a:r>
          </a:p>
        </p:txBody>
      </p:sp>
      <p:sp>
        <p:nvSpPr>
          <p:cNvPr id="264" name="Google Shape;264;p35"/>
          <p:cNvSpPr txBox="1">
            <a:spLocks noGrp="1"/>
          </p:cNvSpPr>
          <p:nvPr>
            <p:ph type="title" idx="6"/>
          </p:nvPr>
        </p:nvSpPr>
        <p:spPr>
          <a:xfrm>
            <a:off x="2682950" y="324982"/>
            <a:ext cx="10290000" cy="63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buClr>
                <a:schemeClr val="accent2"/>
              </a:buClr>
              <a:buSzPts val="1100"/>
            </a:pPr>
            <a:r>
              <a:rPr lang="fr-CM" dirty="0">
                <a:solidFill>
                  <a:schemeClr val="accent1"/>
                </a:solidFill>
                <a:latin typeface="Raleway Bold" pitchFamily="2" charset="0"/>
              </a:rPr>
              <a:t>Questions de recherche</a:t>
            </a:r>
            <a:r>
              <a:rPr lang="en" dirty="0">
                <a:solidFill>
                  <a:schemeClr val="accent1"/>
                </a:solidFill>
                <a:latin typeface="Raleway Bold" pitchFamily="2" charset="0"/>
              </a:rPr>
              <a:t>:</a:t>
            </a:r>
            <a:endParaRPr dirty="0">
              <a:solidFill>
                <a:schemeClr val="accent1"/>
              </a:solidFill>
              <a:latin typeface="Raleway Bold" pitchFamily="2" charset="0"/>
            </a:endParaRPr>
          </a:p>
        </p:txBody>
      </p:sp>
      <p:sp>
        <p:nvSpPr>
          <p:cNvPr id="276" name="Google Shape;276;p35"/>
          <p:cNvSpPr/>
          <p:nvPr/>
        </p:nvSpPr>
        <p:spPr>
          <a:xfrm>
            <a:off x="10580316" y="-597052"/>
            <a:ext cx="1987600" cy="1987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31" name="Google Shape;276;p35"/>
          <p:cNvSpPr/>
          <p:nvPr/>
        </p:nvSpPr>
        <p:spPr>
          <a:xfrm>
            <a:off x="-623686" y="5467451"/>
            <a:ext cx="1987600" cy="1987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165F49-A244-43C0-BAF9-804D5CAC6B13}"/>
              </a:ext>
            </a:extLst>
          </p:cNvPr>
          <p:cNvSpPr/>
          <p:nvPr/>
        </p:nvSpPr>
        <p:spPr>
          <a:xfrm>
            <a:off x="2797330" y="962582"/>
            <a:ext cx="4124583" cy="8060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DD4D1592-8BB4-4C44-B333-C0854AE5EDA6}"/>
              </a:ext>
            </a:extLst>
          </p:cNvPr>
          <p:cNvGrpSpPr/>
          <p:nvPr/>
        </p:nvGrpSpPr>
        <p:grpSpPr>
          <a:xfrm>
            <a:off x="344687" y="1798641"/>
            <a:ext cx="1343928" cy="500128"/>
            <a:chOff x="344687" y="1798641"/>
            <a:chExt cx="1343928" cy="500128"/>
          </a:xfrm>
        </p:grpSpPr>
        <p:sp>
          <p:nvSpPr>
            <p:cNvPr id="12" name="Google Shape;303;p38">
              <a:extLst>
                <a:ext uri="{FF2B5EF4-FFF2-40B4-BE49-F238E27FC236}">
                  <a16:creationId xmlns:a16="http://schemas.microsoft.com/office/drawing/2014/main" id="{CECE6654-BB4B-4494-A131-F26A21F7F5DB}"/>
                </a:ext>
              </a:extLst>
            </p:cNvPr>
            <p:cNvSpPr/>
            <p:nvPr/>
          </p:nvSpPr>
          <p:spPr>
            <a:xfrm>
              <a:off x="344687" y="1798641"/>
              <a:ext cx="500128" cy="500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14313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800" dirty="0">
                  <a:solidFill>
                    <a:schemeClr val="tx2">
                      <a:lumMod val="75000"/>
                    </a:schemeClr>
                  </a:solidFill>
                </a:rPr>
                <a:t>?</a:t>
              </a:r>
              <a:endParaRPr sz="28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cxnSp>
          <p:nvCxnSpPr>
            <p:cNvPr id="18" name="Google Shape;305;p38">
              <a:extLst>
                <a:ext uri="{FF2B5EF4-FFF2-40B4-BE49-F238E27FC236}">
                  <a16:creationId xmlns:a16="http://schemas.microsoft.com/office/drawing/2014/main" id="{215BA394-F0FE-43AE-8483-A823B67A8145}"/>
                </a:ext>
              </a:extLst>
            </p:cNvPr>
            <p:cNvCxnSpPr/>
            <p:nvPr/>
          </p:nvCxnSpPr>
          <p:spPr>
            <a:xfrm>
              <a:off x="844815" y="2048705"/>
              <a:ext cx="843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71901F94-8F21-44B8-AC1F-935347888DBF}"/>
              </a:ext>
            </a:extLst>
          </p:cNvPr>
          <p:cNvGrpSpPr/>
          <p:nvPr/>
        </p:nvGrpSpPr>
        <p:grpSpPr>
          <a:xfrm>
            <a:off x="400389" y="2974375"/>
            <a:ext cx="1343928" cy="500128"/>
            <a:chOff x="356249" y="3664419"/>
            <a:chExt cx="1343928" cy="500128"/>
          </a:xfrm>
        </p:grpSpPr>
        <p:sp>
          <p:nvSpPr>
            <p:cNvPr id="17" name="Google Shape;303;p38">
              <a:extLst>
                <a:ext uri="{FF2B5EF4-FFF2-40B4-BE49-F238E27FC236}">
                  <a16:creationId xmlns:a16="http://schemas.microsoft.com/office/drawing/2014/main" id="{B542873B-5248-4C47-8B0B-8597A58E1806}"/>
                </a:ext>
              </a:extLst>
            </p:cNvPr>
            <p:cNvSpPr/>
            <p:nvPr/>
          </p:nvSpPr>
          <p:spPr>
            <a:xfrm>
              <a:off x="356249" y="3664419"/>
              <a:ext cx="500128" cy="50012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214313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800" b="1" dirty="0">
                  <a:solidFill>
                    <a:schemeClr val="tx2">
                      <a:lumMod val="75000"/>
                    </a:schemeClr>
                  </a:solidFill>
                </a:rPr>
                <a:t>?</a:t>
              </a:r>
              <a:endParaRPr sz="2800" b="1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cxnSp>
          <p:nvCxnSpPr>
            <p:cNvPr id="19" name="Google Shape;305;p38">
              <a:extLst>
                <a:ext uri="{FF2B5EF4-FFF2-40B4-BE49-F238E27FC236}">
                  <a16:creationId xmlns:a16="http://schemas.microsoft.com/office/drawing/2014/main" id="{3E1996D1-10B4-4949-982E-D333941C4286}"/>
                </a:ext>
              </a:extLst>
            </p:cNvPr>
            <p:cNvCxnSpPr/>
            <p:nvPr/>
          </p:nvCxnSpPr>
          <p:spPr>
            <a:xfrm>
              <a:off x="856377" y="3872945"/>
              <a:ext cx="843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4A741A2D-68EF-44C1-B599-EECA8E476723}"/>
              </a:ext>
            </a:extLst>
          </p:cNvPr>
          <p:cNvSpPr txBox="1"/>
          <p:nvPr/>
        </p:nvSpPr>
        <p:spPr>
          <a:xfrm>
            <a:off x="1744317" y="2808941"/>
            <a:ext cx="89777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CM" sz="2400" dirty="0">
                <a:latin typeface="Raleway" pitchFamily="2" charset="0"/>
              </a:rPr>
              <a:t>Quels sont les outils nécessaires à la conception de cette application 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7D1420E6-0ACE-4F27-84A5-B9D16DD8601D}"/>
              </a:ext>
            </a:extLst>
          </p:cNvPr>
          <p:cNvSpPr txBox="1"/>
          <p:nvPr/>
        </p:nvSpPr>
        <p:spPr>
          <a:xfrm>
            <a:off x="1744317" y="1817872"/>
            <a:ext cx="87033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CM" sz="2400" dirty="0">
                <a:latin typeface="Raleway" pitchFamily="2" charset="0"/>
              </a:rPr>
              <a:t>Comment procéder pour développer une telle application ?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2EA5BF1-0912-400A-BEF4-A21153B240E0}"/>
              </a:ext>
            </a:extLst>
          </p:cNvPr>
          <p:cNvSpPr txBox="1"/>
          <p:nvPr/>
        </p:nvSpPr>
        <p:spPr>
          <a:xfrm>
            <a:off x="1764303" y="4125896"/>
            <a:ext cx="9376958" cy="1689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fr-CM" sz="24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De quelle manière un système de communication dynamique pourrait-il renforcer l’implication des parents dans le processus éducatif de leurs enfants au Cameroun ?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A4E096B6-6987-484E-AEE6-4E87BEF892C0}"/>
              </a:ext>
            </a:extLst>
          </p:cNvPr>
          <p:cNvGrpSpPr/>
          <p:nvPr/>
        </p:nvGrpSpPr>
        <p:grpSpPr>
          <a:xfrm>
            <a:off x="400389" y="4318488"/>
            <a:ext cx="1343928" cy="500128"/>
            <a:chOff x="356249" y="3664419"/>
            <a:chExt cx="1343928" cy="500128"/>
          </a:xfrm>
        </p:grpSpPr>
        <p:sp>
          <p:nvSpPr>
            <p:cNvPr id="26" name="Google Shape;303;p38">
              <a:extLst>
                <a:ext uri="{FF2B5EF4-FFF2-40B4-BE49-F238E27FC236}">
                  <a16:creationId xmlns:a16="http://schemas.microsoft.com/office/drawing/2014/main" id="{EFA1C7D7-6EB8-4700-82F4-B84AAF9F74FB}"/>
                </a:ext>
              </a:extLst>
            </p:cNvPr>
            <p:cNvSpPr/>
            <p:nvPr/>
          </p:nvSpPr>
          <p:spPr>
            <a:xfrm>
              <a:off x="356249" y="3664419"/>
              <a:ext cx="500128" cy="50012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214313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800" b="1" dirty="0">
                  <a:solidFill>
                    <a:schemeClr val="tx2">
                      <a:lumMod val="75000"/>
                    </a:schemeClr>
                  </a:solidFill>
                </a:rPr>
                <a:t>?</a:t>
              </a:r>
              <a:endParaRPr sz="2800" b="1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cxnSp>
          <p:nvCxnSpPr>
            <p:cNvPr id="27" name="Google Shape;305;p38">
              <a:extLst>
                <a:ext uri="{FF2B5EF4-FFF2-40B4-BE49-F238E27FC236}">
                  <a16:creationId xmlns:a16="http://schemas.microsoft.com/office/drawing/2014/main" id="{42A21C3E-185A-43CD-9D20-615D681821E9}"/>
                </a:ext>
              </a:extLst>
            </p:cNvPr>
            <p:cNvCxnSpPr/>
            <p:nvPr/>
          </p:nvCxnSpPr>
          <p:spPr>
            <a:xfrm>
              <a:off x="856377" y="3872945"/>
              <a:ext cx="843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28" name="Picture 6" descr="Free Vector | Website faq section. user help desk, customer support,  frequently asked questions. problem solution, quiz game confused man  cartoon character.">
            <a:extLst>
              <a:ext uri="{FF2B5EF4-FFF2-40B4-BE49-F238E27FC236}">
                <a16:creationId xmlns:a16="http://schemas.microsoft.com/office/drawing/2014/main" id="{CC2B1300-B3F6-4B7D-A62C-6CB5D4495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94" y="-327187"/>
            <a:ext cx="2374502" cy="2374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006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" grpId="0"/>
      <p:bldP spid="276" grpId="0" animBg="1"/>
      <p:bldP spid="31" grpId="0" animBg="1"/>
      <p:bldP spid="21" grpId="0"/>
      <p:bldP spid="25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CB78847F-4CE7-4EA3-9620-1C5A5FE910D3}"/>
              </a:ext>
            </a:extLst>
          </p:cNvPr>
          <p:cNvSpPr txBox="1"/>
          <p:nvPr/>
        </p:nvSpPr>
        <p:spPr>
          <a:xfrm>
            <a:off x="3508410" y="27286"/>
            <a:ext cx="5141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600" b="1" dirty="0">
                <a:solidFill>
                  <a:schemeClr val="accent1"/>
                </a:solidFill>
                <a:latin typeface="Raleway SemiBold" pitchFamily="2" charset="0"/>
              </a:rPr>
              <a:t>Etat de </a:t>
            </a:r>
            <a:r>
              <a:rPr lang="en-CA" sz="3600" b="1" dirty="0" err="1">
                <a:solidFill>
                  <a:schemeClr val="accent1"/>
                </a:solidFill>
                <a:latin typeface="Raleway SemiBold" pitchFamily="2" charset="0"/>
              </a:rPr>
              <a:t>l’Art</a:t>
            </a:r>
            <a:r>
              <a:rPr lang="en-CA" sz="3600" b="1" dirty="0">
                <a:solidFill>
                  <a:schemeClr val="accent1"/>
                </a:solidFill>
                <a:latin typeface="Raleway SemiBold" pitchFamily="2" charset="0"/>
              </a:rPr>
              <a:t>(1/3)</a:t>
            </a:r>
            <a:endParaRPr lang="fr-CM" sz="3600" b="1" dirty="0">
              <a:solidFill>
                <a:schemeClr val="accent1"/>
              </a:solidFill>
              <a:latin typeface="Raleway SemiBold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3C5255-FFEB-426C-87BF-195015A818C4}"/>
              </a:ext>
            </a:extLst>
          </p:cNvPr>
          <p:cNvSpPr/>
          <p:nvPr/>
        </p:nvSpPr>
        <p:spPr>
          <a:xfrm>
            <a:off x="11615738" y="1028700"/>
            <a:ext cx="576262" cy="49006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BE4E564-3194-4D1A-B92B-CCDF27E45DF4}"/>
              </a:ext>
            </a:extLst>
          </p:cNvPr>
          <p:cNvSpPr txBox="1"/>
          <p:nvPr/>
        </p:nvSpPr>
        <p:spPr>
          <a:xfrm>
            <a:off x="375046" y="1189926"/>
            <a:ext cx="1039415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[Index Education] a développé une plateforme</a:t>
            </a:r>
            <a:r>
              <a:rPr lang="en-CA" sz="24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CA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fr-CM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système</a:t>
            </a:r>
            <a:r>
              <a:rPr lang="en-CA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de gestion </a:t>
            </a:r>
            <a:r>
              <a:rPr lang="fr-CM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scolaire</a:t>
            </a:r>
            <a:r>
              <a:rPr lang="en-CA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CM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  <a:r>
              <a:rPr lang="en-CA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France </a:t>
            </a:r>
            <a:r>
              <a:rPr lang="fr-CM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nommer</a:t>
            </a:r>
            <a:r>
              <a:rPr lang="en-CA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Promote; avec pour </a:t>
            </a:r>
            <a:r>
              <a:rPr lang="fr-CM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fonctionnalité</a:t>
            </a:r>
            <a:r>
              <a:rPr lang="en-CA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400" dirty="0">
              <a:latin typeface="Raleway" pitchFamily="2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1DAD5A-82D2-4D73-9577-B64136C48949}"/>
              </a:ext>
            </a:extLst>
          </p:cNvPr>
          <p:cNvSpPr/>
          <p:nvPr/>
        </p:nvSpPr>
        <p:spPr>
          <a:xfrm>
            <a:off x="4057650" y="789033"/>
            <a:ext cx="4043363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F10B171-B9ED-4D2D-ACBC-08C129EF9D0E}"/>
              </a:ext>
            </a:extLst>
          </p:cNvPr>
          <p:cNvSpPr txBox="1"/>
          <p:nvPr/>
        </p:nvSpPr>
        <p:spPr>
          <a:xfrm>
            <a:off x="1006337" y="2464546"/>
            <a:ext cx="9131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CA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La </a:t>
            </a:r>
            <a:r>
              <a:rPr lang="fr-FR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Messagerie</a:t>
            </a:r>
            <a:r>
              <a:rPr lang="en-CA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CM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intégrée</a:t>
            </a:r>
            <a:r>
              <a:rPr lang="en-CA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CM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école-parents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B2D5180-474B-4AE8-AF80-D99A9FD9CCAA}"/>
              </a:ext>
            </a:extLst>
          </p:cNvPr>
          <p:cNvSpPr txBox="1"/>
          <p:nvPr/>
        </p:nvSpPr>
        <p:spPr>
          <a:xfrm>
            <a:off x="1006337" y="3198167"/>
            <a:ext cx="9131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CA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fr-CM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carnet</a:t>
            </a:r>
            <a:r>
              <a:rPr lang="en-CA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de note </a:t>
            </a:r>
            <a:r>
              <a:rPr lang="fr-CM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détaillé</a:t>
            </a:r>
            <a:r>
              <a:rPr lang="en-CA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avec </a:t>
            </a:r>
            <a:r>
              <a:rPr lang="en-CA" sz="2400" dirty="0" err="1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graphique</a:t>
            </a:r>
            <a:r>
              <a:rPr lang="en-CA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CA" sz="2400" dirty="0" err="1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d’evolution</a:t>
            </a:r>
            <a:endParaRPr lang="fr-FR" sz="2400" dirty="0">
              <a:latin typeface="Raleway" pitchFamily="2" charset="0"/>
              <a:cs typeface="Times New Roman" panose="02020603050405020304" pitchFamily="18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FE1F74B-36C3-4FC4-A69F-E9B402D1945D}"/>
              </a:ext>
            </a:extLst>
          </p:cNvPr>
          <p:cNvSpPr txBox="1"/>
          <p:nvPr/>
        </p:nvSpPr>
        <p:spPr>
          <a:xfrm>
            <a:off x="1006336" y="3931788"/>
            <a:ext cx="94037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fr-CM" sz="2400" dirty="0">
                <a:latin typeface="Raleway" pitchFamily="2" charset="0"/>
              </a:rPr>
              <a:t>Une messagerie interne et un cahier de texte numérique partagé.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55B6778-F9B8-4AF1-96BC-4675B5884C3A}"/>
              </a:ext>
            </a:extLst>
          </p:cNvPr>
          <p:cNvSpPr txBox="1"/>
          <p:nvPr/>
        </p:nvSpPr>
        <p:spPr>
          <a:xfrm>
            <a:off x="-155040" y="4740963"/>
            <a:ext cx="6102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400" b="1" dirty="0">
                <a:latin typeface="Raleway" pitchFamily="2" charset="0"/>
                <a:cs typeface="Times New Roman" panose="02020603050405020304" pitchFamily="18" charset="0"/>
              </a:rPr>
              <a:t>Limite: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EA3E23B-D992-48F6-B5B2-BFFE0FEEC533}"/>
              </a:ext>
            </a:extLst>
          </p:cNvPr>
          <p:cNvSpPr txBox="1"/>
          <p:nvPr/>
        </p:nvSpPr>
        <p:spPr>
          <a:xfrm>
            <a:off x="-155040" y="5561417"/>
            <a:ext cx="100882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fr-FR" sz="1800" b="1" dirty="0">
                <a:latin typeface="Raleway" pitchFamily="2" charset="0"/>
                <a:cs typeface="Times New Roman" panose="02020603050405020304" pitchFamily="18" charset="0"/>
              </a:rPr>
              <a:t>Elle ne propose pas une interface complexe pour les parents moins technophiles</a:t>
            </a:r>
          </a:p>
        </p:txBody>
      </p:sp>
    </p:spTree>
    <p:extLst>
      <p:ext uri="{BB962C8B-B14F-4D97-AF65-F5344CB8AC3E}">
        <p14:creationId xmlns:p14="http://schemas.microsoft.com/office/powerpoint/2010/main" val="384331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  <p:bldP spid="10" grpId="0"/>
      <p:bldP spid="11" grpId="0"/>
      <p:bldP spid="13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B3C5255-FFEB-426C-87BF-195015A818C4}"/>
              </a:ext>
            </a:extLst>
          </p:cNvPr>
          <p:cNvSpPr/>
          <p:nvPr/>
        </p:nvSpPr>
        <p:spPr>
          <a:xfrm>
            <a:off x="11890410" y="1028700"/>
            <a:ext cx="301589" cy="49006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BE4E564-3194-4D1A-B92B-CCDF27E45DF4}"/>
              </a:ext>
            </a:extLst>
          </p:cNvPr>
          <p:cNvSpPr txBox="1"/>
          <p:nvPr/>
        </p:nvSpPr>
        <p:spPr>
          <a:xfrm>
            <a:off x="328094" y="1279416"/>
            <a:ext cx="1039415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>
                <a:latin typeface="Raleway" pitchFamily="2" charset="0"/>
                <a:cs typeface="Times New Roman" panose="02020603050405020304" pitchFamily="18" charset="0"/>
              </a:rPr>
              <a:t>[MONEYEMFEK </a:t>
            </a:r>
            <a:r>
              <a:rPr lang="fr-FR" sz="2400" dirty="0" err="1">
                <a:latin typeface="Raleway" pitchFamily="2" charset="0"/>
                <a:cs typeface="Times New Roman" panose="02020603050405020304" pitchFamily="18" charset="0"/>
              </a:rPr>
              <a:t>Ndongo</a:t>
            </a:r>
            <a:r>
              <a:rPr lang="fr-FR" sz="2400" dirty="0">
                <a:latin typeface="Raleway" pitchFamily="2" charset="0"/>
                <a:cs typeface="Times New Roman" panose="02020603050405020304" pitchFamily="18" charset="0"/>
              </a:rPr>
              <a:t> Cyrille] a pensée la mise en place  d’une plateforme web de notification des parents d’élèves pour le suivi scolaire de leurs enfants Nommer E_SCHOOL ;cette plateforme présente les fonctionnalités suivantes :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DFF5284-F4EB-4437-AD69-0690BD2E0CE4}"/>
              </a:ext>
            </a:extLst>
          </p:cNvPr>
          <p:cNvSpPr txBox="1"/>
          <p:nvPr/>
        </p:nvSpPr>
        <p:spPr>
          <a:xfrm>
            <a:off x="1125607" y="3108626"/>
            <a:ext cx="6102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L’</a:t>
            </a:r>
            <a:r>
              <a:rPr lang="fr-FR" sz="2400" dirty="0" err="1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acces</a:t>
            </a:r>
            <a:r>
              <a:rPr lang="fr-FR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a une messagerie interne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6BDE2F3-37A2-4124-BCC3-0270AD130782}"/>
              </a:ext>
            </a:extLst>
          </p:cNvPr>
          <p:cNvSpPr txBox="1"/>
          <p:nvPr/>
        </p:nvSpPr>
        <p:spPr>
          <a:xfrm>
            <a:off x="1125607" y="3725473"/>
            <a:ext cx="6102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L’envoie  de notification au</a:t>
            </a:r>
            <a:r>
              <a:rPr lang="fr-FR" sz="24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x parents</a:t>
            </a:r>
            <a:endParaRPr lang="fr-FR" sz="2400" dirty="0"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4F07DF4-0388-4B70-9342-9974EAC49696}"/>
              </a:ext>
            </a:extLst>
          </p:cNvPr>
          <p:cNvSpPr txBox="1"/>
          <p:nvPr/>
        </p:nvSpPr>
        <p:spPr>
          <a:xfrm>
            <a:off x="0" y="4452898"/>
            <a:ext cx="106728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400" dirty="0">
                <a:latin typeface="Raleway" pitchFamily="2" charset="0"/>
                <a:cs typeface="Times New Roman" panose="02020603050405020304" pitchFamily="18" charset="0"/>
              </a:rPr>
              <a:t>Cependant cette dernière ne présente pas de protocole de sécurité au niveau de l’authentification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9F96CD6-CA23-442D-AC28-DD0723E9BDE9}"/>
              </a:ext>
            </a:extLst>
          </p:cNvPr>
          <p:cNvSpPr txBox="1"/>
          <p:nvPr/>
        </p:nvSpPr>
        <p:spPr>
          <a:xfrm>
            <a:off x="0" y="5513814"/>
            <a:ext cx="108170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400" dirty="0">
                <a:latin typeface="Raleway" pitchFamily="2" charset="0"/>
                <a:cs typeface="Times New Roman" panose="02020603050405020304" pitchFamily="18" charset="0"/>
              </a:rPr>
              <a:t>Elle n’offre pas au parents un espace dédier a la communication avec </a:t>
            </a:r>
            <a:r>
              <a:rPr lang="fr-FR" sz="2400">
                <a:latin typeface="Raleway" pitchFamily="2" charset="0"/>
                <a:cs typeface="Times New Roman" panose="02020603050405020304" pitchFamily="18" charset="0"/>
              </a:rPr>
              <a:t>les enseignants.</a:t>
            </a:r>
            <a:endParaRPr lang="fr-CM" sz="24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D04CED8-9D28-4753-96E5-E187D258E740}"/>
              </a:ext>
            </a:extLst>
          </p:cNvPr>
          <p:cNvSpPr txBox="1"/>
          <p:nvPr/>
        </p:nvSpPr>
        <p:spPr>
          <a:xfrm>
            <a:off x="3508410" y="27286"/>
            <a:ext cx="5141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600" b="1" dirty="0">
                <a:solidFill>
                  <a:schemeClr val="accent1"/>
                </a:solidFill>
                <a:latin typeface="Raleway SemiBold" pitchFamily="2" charset="0"/>
              </a:rPr>
              <a:t>Etat de </a:t>
            </a:r>
            <a:r>
              <a:rPr lang="en-CA" sz="3600" b="1" dirty="0" err="1">
                <a:solidFill>
                  <a:schemeClr val="accent1"/>
                </a:solidFill>
                <a:latin typeface="Raleway SemiBold" pitchFamily="2" charset="0"/>
              </a:rPr>
              <a:t>l’Art</a:t>
            </a:r>
            <a:r>
              <a:rPr lang="en-CA" sz="3600" b="1" dirty="0">
                <a:solidFill>
                  <a:schemeClr val="accent1"/>
                </a:solidFill>
                <a:latin typeface="Raleway SemiBold" pitchFamily="2" charset="0"/>
              </a:rPr>
              <a:t> (2/3)</a:t>
            </a:r>
            <a:endParaRPr lang="fr-CM" sz="3600" b="1" dirty="0">
              <a:solidFill>
                <a:schemeClr val="accent1"/>
              </a:solidFill>
              <a:latin typeface="Raleway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295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  <p:bldP spid="10" grpId="0"/>
      <p:bldP spid="11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B3C5255-FFEB-426C-87BF-195015A818C4}"/>
              </a:ext>
            </a:extLst>
          </p:cNvPr>
          <p:cNvSpPr/>
          <p:nvPr/>
        </p:nvSpPr>
        <p:spPr>
          <a:xfrm>
            <a:off x="11968938" y="1028700"/>
            <a:ext cx="223061" cy="49006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BE4E564-3194-4D1A-B92B-CCDF27E45DF4}"/>
              </a:ext>
            </a:extLst>
          </p:cNvPr>
          <p:cNvSpPr txBox="1"/>
          <p:nvPr/>
        </p:nvSpPr>
        <p:spPr>
          <a:xfrm>
            <a:off x="223061" y="910831"/>
            <a:ext cx="1039415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fr-FR" sz="2400" dirty="0">
              <a:latin typeface="Raleway" pitchFamily="2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r-FR" sz="2400" dirty="0">
                <a:latin typeface="Raleway" pitchFamily="2" charset="0"/>
                <a:cs typeface="Times New Roman" panose="02020603050405020304" pitchFamily="18" charset="0"/>
              </a:rPr>
              <a:t>[</a:t>
            </a:r>
            <a:r>
              <a:rPr lang="fr-FR" sz="2400" dirty="0" err="1">
                <a:latin typeface="Raleway" pitchFamily="2" charset="0"/>
                <a:cs typeface="Times New Roman" panose="02020603050405020304" pitchFamily="18" charset="0"/>
              </a:rPr>
              <a:t>EdTech</a:t>
            </a:r>
            <a:r>
              <a:rPr lang="fr-FR" sz="2400" dirty="0">
                <a:latin typeface="Raleway" pitchFamily="2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Raleway" pitchFamily="2" charset="0"/>
                <a:cs typeface="Times New Roman" panose="02020603050405020304" pitchFamily="18" charset="0"/>
              </a:rPr>
              <a:t>Africa</a:t>
            </a:r>
            <a:r>
              <a:rPr lang="fr-FR" sz="2400" dirty="0">
                <a:latin typeface="Raleway" pitchFamily="2" charset="0"/>
                <a:cs typeface="Times New Roman" panose="02020603050405020304" pitchFamily="18" charset="0"/>
              </a:rPr>
              <a:t>] qui est une entreprise basée en Cote d’ivoire  a développé une plateforme mobile de suivi scolaire destinée aux établissements prives ivoiriens. Conçu dans le but de renforcer la communication entre les parents et les enseignants , elle permet: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5ECD5CF-7CE3-4463-B5FC-17A3496BA22D}"/>
              </a:ext>
            </a:extLst>
          </p:cNvPr>
          <p:cNvSpPr txBox="1"/>
          <p:nvPr/>
        </p:nvSpPr>
        <p:spPr>
          <a:xfrm>
            <a:off x="369380" y="3113000"/>
            <a:ext cx="101774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400" dirty="0">
                <a:latin typeface="Raleway" pitchFamily="2" charset="0"/>
                <a:cs typeface="Times New Roman" panose="02020603050405020304" pitchFamily="18" charset="0"/>
              </a:rPr>
              <a:t>La réception de bulletin et emplois de temps via mobile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984A415-2727-4C7A-BCE3-50642D8B2B57}"/>
              </a:ext>
            </a:extLst>
          </p:cNvPr>
          <p:cNvSpPr txBox="1"/>
          <p:nvPr/>
        </p:nvSpPr>
        <p:spPr>
          <a:xfrm>
            <a:off x="439806" y="3876969"/>
            <a:ext cx="101774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400" dirty="0">
                <a:latin typeface="Raleway" pitchFamily="2" charset="0"/>
                <a:cs typeface="Times New Roman" panose="02020603050405020304" pitchFamily="18" charset="0"/>
              </a:rPr>
              <a:t>La messagerie instantanée entre parents et enseignants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871B753-A86A-4E9A-85CA-208ED176004D}"/>
              </a:ext>
            </a:extLst>
          </p:cNvPr>
          <p:cNvSpPr txBox="1"/>
          <p:nvPr/>
        </p:nvSpPr>
        <p:spPr>
          <a:xfrm>
            <a:off x="439806" y="4609492"/>
            <a:ext cx="101774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400" dirty="0">
                <a:latin typeface="Raleway" pitchFamily="2" charset="0"/>
                <a:cs typeface="Times New Roman" panose="02020603050405020304" pitchFamily="18" charset="0"/>
              </a:rPr>
              <a:t>Des alertes push pour les devoirs et contrôles programmes</a:t>
            </a:r>
            <a:endParaRPr lang="fr-CM" sz="2400" dirty="0">
              <a:latin typeface="Raleway" pitchFamily="2" charset="0"/>
              <a:cs typeface="Times New Roman" panose="02020603050405020304" pitchFamily="18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386090B-3AB2-4A6F-9FFF-C8799266F31D}"/>
              </a:ext>
            </a:extLst>
          </p:cNvPr>
          <p:cNvSpPr txBox="1"/>
          <p:nvPr/>
        </p:nvSpPr>
        <p:spPr>
          <a:xfrm>
            <a:off x="439806" y="5959755"/>
            <a:ext cx="78958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400" dirty="0">
                <a:latin typeface="Raleway" pitchFamily="2" charset="0"/>
                <a:cs typeface="Times New Roman" panose="02020603050405020304" pitchFamily="18" charset="0"/>
              </a:rPr>
              <a:t>Le service payant dans les écoles privées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C517AA3F-3C19-45A4-87A6-39B325562666}"/>
              </a:ext>
            </a:extLst>
          </p:cNvPr>
          <p:cNvSpPr/>
          <p:nvPr/>
        </p:nvSpPr>
        <p:spPr>
          <a:xfrm>
            <a:off x="10455965" y="4627173"/>
            <a:ext cx="2557670" cy="264315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2F88249-6978-4EF1-B14E-52D8AD2227E6}"/>
              </a:ext>
            </a:extLst>
          </p:cNvPr>
          <p:cNvSpPr/>
          <p:nvPr/>
        </p:nvSpPr>
        <p:spPr>
          <a:xfrm>
            <a:off x="10214374" y="6265345"/>
            <a:ext cx="664834" cy="70236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FF1FE373-22F1-4658-BB3C-4C7DCC17F66D}"/>
              </a:ext>
            </a:extLst>
          </p:cNvPr>
          <p:cNvSpPr/>
          <p:nvPr/>
        </p:nvSpPr>
        <p:spPr>
          <a:xfrm>
            <a:off x="9784202" y="6432476"/>
            <a:ext cx="506634" cy="5352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71DEB8E-58EF-4D84-B1EE-9EABCBB57C24}"/>
              </a:ext>
            </a:extLst>
          </p:cNvPr>
          <p:cNvSpPr txBox="1"/>
          <p:nvPr/>
        </p:nvSpPr>
        <p:spPr>
          <a:xfrm>
            <a:off x="-198109" y="5237970"/>
            <a:ext cx="98324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CM" sz="2400" dirty="0">
                <a:latin typeface="Raleway" pitchFamily="2" charset="0"/>
                <a:cs typeface="Times New Roman" panose="02020603050405020304" pitchFamily="18" charset="0"/>
              </a:rPr>
              <a:t>Cependant cette plateforme faire face a des limites tels que: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D4E4322-458E-42F3-9415-07B378F6F67D}"/>
              </a:ext>
            </a:extLst>
          </p:cNvPr>
          <p:cNvSpPr txBox="1"/>
          <p:nvPr/>
        </p:nvSpPr>
        <p:spPr>
          <a:xfrm>
            <a:off x="3375888" y="113414"/>
            <a:ext cx="5141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600" b="1" dirty="0">
                <a:solidFill>
                  <a:schemeClr val="accent1"/>
                </a:solidFill>
                <a:latin typeface="Raleway SemiBold" pitchFamily="2" charset="0"/>
              </a:rPr>
              <a:t>Etat de </a:t>
            </a:r>
            <a:r>
              <a:rPr lang="en-CA" sz="3600" b="1" dirty="0" err="1">
                <a:solidFill>
                  <a:schemeClr val="accent1"/>
                </a:solidFill>
                <a:latin typeface="Raleway SemiBold" pitchFamily="2" charset="0"/>
              </a:rPr>
              <a:t>l’Art</a:t>
            </a:r>
            <a:r>
              <a:rPr lang="en-CA" sz="3600" b="1" dirty="0">
                <a:solidFill>
                  <a:schemeClr val="accent1"/>
                </a:solidFill>
                <a:latin typeface="Raleway SemiBold" pitchFamily="2" charset="0"/>
              </a:rPr>
              <a:t> (3/3)</a:t>
            </a:r>
            <a:endParaRPr lang="fr-CM" sz="3600" b="1" dirty="0">
              <a:solidFill>
                <a:schemeClr val="accent1"/>
              </a:solidFill>
              <a:latin typeface="Raleway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585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  <p:bldP spid="13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CB78847F-4CE7-4EA3-9620-1C5A5FE910D3}"/>
              </a:ext>
            </a:extLst>
          </p:cNvPr>
          <p:cNvSpPr txBox="1"/>
          <p:nvPr/>
        </p:nvSpPr>
        <p:spPr>
          <a:xfrm>
            <a:off x="3525079" y="265813"/>
            <a:ext cx="5141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>
                <a:solidFill>
                  <a:schemeClr val="accent4"/>
                </a:solidFill>
                <a:latin typeface="Raleway SemiBold" pitchFamily="2" charset="0"/>
              </a:rPr>
              <a:t>PROPOSITION</a:t>
            </a:r>
            <a:endParaRPr lang="fr-CM" sz="3200" b="1" dirty="0">
              <a:solidFill>
                <a:schemeClr val="accent4"/>
              </a:solidFill>
              <a:latin typeface="Raleway SemiBold" pitchFamily="2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BE4E564-3194-4D1A-B92B-CCDF27E45DF4}"/>
              </a:ext>
            </a:extLst>
          </p:cNvPr>
          <p:cNvSpPr txBox="1"/>
          <p:nvPr/>
        </p:nvSpPr>
        <p:spPr>
          <a:xfrm>
            <a:off x="993449" y="3146469"/>
            <a:ext cx="10019107" cy="130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tabLst>
                <a:tab pos="228600" algn="l"/>
              </a:tabLst>
            </a:pPr>
            <a:r>
              <a:rPr lang="fr-CM" sz="2800" b="1" dirty="0">
                <a:effectLst/>
                <a:latin typeface="Raleway" pitchFamily="2" charset="0"/>
                <a:ea typeface="Times New Roman" panose="02020603050405020304" pitchFamily="18" charset="0"/>
              </a:rPr>
              <a:t>La Mettre en place une  </a:t>
            </a:r>
            <a:r>
              <a:rPr lang="fr-CM" sz="2800" b="1" dirty="0">
                <a:latin typeface="Raleway" pitchFamily="2" charset="0"/>
                <a:ea typeface="Times New Roman" panose="02020603050405020304" pitchFamily="18" charset="0"/>
              </a:rPr>
              <a:t>plateforme web de notification des parents</a:t>
            </a:r>
            <a:endParaRPr lang="fr-CM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509C0E3-40A2-4628-B616-F450B378E2D7}"/>
              </a:ext>
            </a:extLst>
          </p:cNvPr>
          <p:cNvSpPr txBox="1"/>
          <p:nvPr/>
        </p:nvSpPr>
        <p:spPr>
          <a:xfrm>
            <a:off x="1758890" y="2035045"/>
            <a:ext cx="9253666" cy="581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fr-CM" sz="24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À partir des observations précédentes, nous proposons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C86EFD-6A9C-4F04-8078-6A67BA54EB95}"/>
              </a:ext>
            </a:extLst>
          </p:cNvPr>
          <p:cNvSpPr/>
          <p:nvPr/>
        </p:nvSpPr>
        <p:spPr>
          <a:xfrm>
            <a:off x="689113" y="2199861"/>
            <a:ext cx="45719" cy="25380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66667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82;p36">
            <a:extLst>
              <a:ext uri="{FF2B5EF4-FFF2-40B4-BE49-F238E27FC236}">
                <a16:creationId xmlns:a16="http://schemas.microsoft.com/office/drawing/2014/main" id="{EB9D3D00-420A-470C-B648-039F3B4B88CC}"/>
              </a:ext>
            </a:extLst>
          </p:cNvPr>
          <p:cNvSpPr txBox="1">
            <a:spLocks/>
          </p:cNvSpPr>
          <p:nvPr/>
        </p:nvSpPr>
        <p:spPr>
          <a:xfrm>
            <a:off x="3215367" y="40375"/>
            <a:ext cx="7251199" cy="932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fr-FR" sz="4800" b="1" dirty="0">
                <a:solidFill>
                  <a:srgbClr val="0070C0"/>
                </a:solidFill>
                <a:latin typeface="Raleway" pitchFamily="2" charset="0"/>
              </a:rPr>
              <a:t>Matériels et Méthodes </a:t>
            </a:r>
          </a:p>
        </p:txBody>
      </p:sp>
      <p:sp>
        <p:nvSpPr>
          <p:cNvPr id="9" name="Rectangle à coins arrondis 2">
            <a:extLst>
              <a:ext uri="{FF2B5EF4-FFF2-40B4-BE49-F238E27FC236}">
                <a16:creationId xmlns:a16="http://schemas.microsoft.com/office/drawing/2014/main" id="{715EDEF1-873D-4001-8B31-F3460631BF1A}"/>
              </a:ext>
            </a:extLst>
          </p:cNvPr>
          <p:cNvSpPr/>
          <p:nvPr/>
        </p:nvSpPr>
        <p:spPr>
          <a:xfrm>
            <a:off x="730576" y="1663841"/>
            <a:ext cx="7251198" cy="9324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accent2"/>
                </a:solidFill>
                <a:latin typeface="Raleway Bold" pitchFamily="2" charset="0"/>
                <a:cs typeface="Poppins" panose="020B0604020202020204" charset="0"/>
              </a:rPr>
              <a:t>Méthode de collecte de données: Mixte</a:t>
            </a:r>
          </a:p>
        </p:txBody>
      </p:sp>
      <p:sp>
        <p:nvSpPr>
          <p:cNvPr id="10" name="Rectangle à coins arrondis 17">
            <a:extLst>
              <a:ext uri="{FF2B5EF4-FFF2-40B4-BE49-F238E27FC236}">
                <a16:creationId xmlns:a16="http://schemas.microsoft.com/office/drawing/2014/main" id="{B5A9BFDD-B483-49DD-9468-60427BD5B72E}"/>
              </a:ext>
            </a:extLst>
          </p:cNvPr>
          <p:cNvSpPr/>
          <p:nvPr/>
        </p:nvSpPr>
        <p:spPr>
          <a:xfrm>
            <a:off x="821635" y="3073803"/>
            <a:ext cx="7251198" cy="9324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accent2"/>
                </a:solidFill>
                <a:latin typeface="Raleway Bold" pitchFamily="2" charset="0"/>
                <a:cs typeface="Poppins" panose="020B0604020202020204" charset="0"/>
              </a:rPr>
              <a:t>Population cible: les parents d’élèves et les enseignants du LBE</a:t>
            </a:r>
          </a:p>
        </p:txBody>
      </p:sp>
      <p:sp>
        <p:nvSpPr>
          <p:cNvPr id="12" name="Sous-titre 19">
            <a:extLst>
              <a:ext uri="{FF2B5EF4-FFF2-40B4-BE49-F238E27FC236}">
                <a16:creationId xmlns:a16="http://schemas.microsoft.com/office/drawing/2014/main" id="{2D62EE81-7D5A-45FC-B138-8E62C007AA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683" y="4697269"/>
            <a:ext cx="7409101" cy="184420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fr-FR" b="1" dirty="0" err="1">
                <a:solidFill>
                  <a:schemeClr val="accent2"/>
                </a:solidFill>
                <a:latin typeface="Raleway" pitchFamily="2" charset="0"/>
              </a:rPr>
              <a:t>Procedure</a:t>
            </a:r>
            <a:r>
              <a:rPr lang="fr-FR" b="1" dirty="0">
                <a:solidFill>
                  <a:schemeClr val="accent2"/>
                </a:solidFill>
                <a:latin typeface="Raleway" pitchFamily="2" charset="0"/>
              </a:rPr>
              <a:t> de collecte</a:t>
            </a:r>
            <a:r>
              <a:rPr lang="fr-FR" dirty="0">
                <a:solidFill>
                  <a:schemeClr val="accent2"/>
                </a:solidFill>
                <a:latin typeface="Raleway Bold" pitchFamily="2" charset="0"/>
              </a:rPr>
              <a:t>: -questionnaire(google </a:t>
            </a:r>
            <a:r>
              <a:rPr lang="fr-FR" dirty="0" err="1">
                <a:solidFill>
                  <a:schemeClr val="accent2"/>
                </a:solidFill>
                <a:latin typeface="Raleway Bold" pitchFamily="2" charset="0"/>
              </a:rPr>
              <a:t>forms</a:t>
            </a:r>
            <a:r>
              <a:rPr lang="fr-FR" dirty="0">
                <a:solidFill>
                  <a:schemeClr val="accent2"/>
                </a:solidFill>
                <a:latin typeface="Raleway Bold" pitchFamily="2" charset="0"/>
              </a:rPr>
              <a:t>)</a:t>
            </a:r>
          </a:p>
          <a:p>
            <a:pPr algn="ctr"/>
            <a:r>
              <a:rPr lang="fr-FR" dirty="0">
                <a:solidFill>
                  <a:schemeClr val="accent2"/>
                </a:solidFill>
                <a:latin typeface="Raleway Bold" pitchFamily="2" charset="0"/>
              </a:rPr>
              <a:t>-Analyse des </a:t>
            </a:r>
            <a:r>
              <a:rPr lang="fr-FR" dirty="0" err="1">
                <a:solidFill>
                  <a:schemeClr val="accent2"/>
                </a:solidFill>
                <a:latin typeface="Raleway Bold" pitchFamily="2" charset="0"/>
              </a:rPr>
              <a:t>donnees</a:t>
            </a:r>
            <a:r>
              <a:rPr lang="fr-FR" dirty="0">
                <a:solidFill>
                  <a:schemeClr val="accent2"/>
                </a:solidFill>
                <a:latin typeface="Raleway Bold" pitchFamily="2" charset="0"/>
              </a:rPr>
              <a:t> via tableaux Excel </a:t>
            </a:r>
            <a:endParaRPr lang="fr-FR" dirty="0">
              <a:latin typeface="Raleway Bold" pitchFamily="2" charset="0"/>
            </a:endParaRPr>
          </a:p>
        </p:txBody>
      </p:sp>
      <p:grpSp>
        <p:nvGrpSpPr>
          <p:cNvPr id="13" name="Google Shape;347;p41">
            <a:extLst>
              <a:ext uri="{FF2B5EF4-FFF2-40B4-BE49-F238E27FC236}">
                <a16:creationId xmlns:a16="http://schemas.microsoft.com/office/drawing/2014/main" id="{149F38E5-3E87-4167-BD5F-169614064F5E}"/>
              </a:ext>
            </a:extLst>
          </p:cNvPr>
          <p:cNvGrpSpPr/>
          <p:nvPr/>
        </p:nvGrpSpPr>
        <p:grpSpPr>
          <a:xfrm>
            <a:off x="357123" y="40375"/>
            <a:ext cx="464512" cy="423099"/>
            <a:chOff x="-40378075" y="3267450"/>
            <a:chExt cx="317425" cy="289075"/>
          </a:xfrm>
          <a:solidFill>
            <a:srgbClr val="FFC000"/>
          </a:solidFill>
        </p:grpSpPr>
        <p:sp>
          <p:nvSpPr>
            <p:cNvPr id="14" name="Google Shape;348;p41">
              <a:extLst>
                <a:ext uri="{FF2B5EF4-FFF2-40B4-BE49-F238E27FC236}">
                  <a16:creationId xmlns:a16="http://schemas.microsoft.com/office/drawing/2014/main" id="{8109F03E-E7E5-4174-A997-D2C1E4385C9B}"/>
                </a:ext>
              </a:extLst>
            </p:cNvPr>
            <p:cNvSpPr/>
            <p:nvPr/>
          </p:nvSpPr>
          <p:spPr>
            <a:xfrm>
              <a:off x="-40218975" y="3308400"/>
              <a:ext cx="158325" cy="248125"/>
            </a:xfrm>
            <a:custGeom>
              <a:avLst/>
              <a:gdLst/>
              <a:ahLst/>
              <a:cxnLst/>
              <a:rect l="l" t="t" r="r" b="b"/>
              <a:pathLst>
                <a:path w="6333" h="9925" extrusionOk="0">
                  <a:moveTo>
                    <a:pt x="4694" y="1"/>
                  </a:moveTo>
                  <a:lnTo>
                    <a:pt x="4694" y="7877"/>
                  </a:lnTo>
                  <a:cubicBezTo>
                    <a:pt x="4694" y="8097"/>
                    <a:pt x="4474" y="8255"/>
                    <a:pt x="4253" y="8255"/>
                  </a:cubicBezTo>
                  <a:cubicBezTo>
                    <a:pt x="2993" y="8255"/>
                    <a:pt x="1638" y="8696"/>
                    <a:pt x="693" y="9452"/>
                  </a:cubicBezTo>
                  <a:cubicBezTo>
                    <a:pt x="536" y="9546"/>
                    <a:pt x="189" y="9925"/>
                    <a:pt x="0" y="9925"/>
                  </a:cubicBezTo>
                  <a:lnTo>
                    <a:pt x="5073" y="9925"/>
                  </a:lnTo>
                  <a:cubicBezTo>
                    <a:pt x="5734" y="9925"/>
                    <a:pt x="6333" y="9357"/>
                    <a:pt x="6333" y="8696"/>
                  </a:cubicBezTo>
                  <a:lnTo>
                    <a:pt x="6333" y="1229"/>
                  </a:lnTo>
                  <a:cubicBezTo>
                    <a:pt x="6333" y="536"/>
                    <a:pt x="5766" y="1"/>
                    <a:pt x="507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349;p41">
              <a:extLst>
                <a:ext uri="{FF2B5EF4-FFF2-40B4-BE49-F238E27FC236}">
                  <a16:creationId xmlns:a16="http://schemas.microsoft.com/office/drawing/2014/main" id="{74EB0740-3DB2-4E49-9E65-18FEF8E9EEB5}"/>
                </a:ext>
              </a:extLst>
            </p:cNvPr>
            <p:cNvSpPr/>
            <p:nvPr/>
          </p:nvSpPr>
          <p:spPr>
            <a:xfrm>
              <a:off x="-40316650" y="3267450"/>
              <a:ext cx="86675" cy="257575"/>
            </a:xfrm>
            <a:custGeom>
              <a:avLst/>
              <a:gdLst/>
              <a:ahLst/>
              <a:cxnLst/>
              <a:rect l="l" t="t" r="r" b="b"/>
              <a:pathLst>
                <a:path w="3467" h="10303" extrusionOk="0">
                  <a:moveTo>
                    <a:pt x="1" y="0"/>
                  </a:moveTo>
                  <a:lnTo>
                    <a:pt x="1" y="9105"/>
                  </a:lnTo>
                  <a:cubicBezTo>
                    <a:pt x="1166" y="9200"/>
                    <a:pt x="2489" y="9578"/>
                    <a:pt x="3466" y="10302"/>
                  </a:cubicBezTo>
                  <a:lnTo>
                    <a:pt x="3466" y="1197"/>
                  </a:lnTo>
                  <a:cubicBezTo>
                    <a:pt x="2489" y="473"/>
                    <a:pt x="1229" y="95"/>
                    <a:pt x="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350;p41">
              <a:extLst>
                <a:ext uri="{FF2B5EF4-FFF2-40B4-BE49-F238E27FC236}">
                  <a16:creationId xmlns:a16="http://schemas.microsoft.com/office/drawing/2014/main" id="{A25EEB51-F03C-49FB-A58C-AB76A1C6E063}"/>
                </a:ext>
              </a:extLst>
            </p:cNvPr>
            <p:cNvSpPr/>
            <p:nvPr/>
          </p:nvSpPr>
          <p:spPr>
            <a:xfrm>
              <a:off x="-40209525" y="3267450"/>
              <a:ext cx="86650" cy="257575"/>
            </a:xfrm>
            <a:custGeom>
              <a:avLst/>
              <a:gdLst/>
              <a:ahLst/>
              <a:cxnLst/>
              <a:rect l="l" t="t" r="r" b="b"/>
              <a:pathLst>
                <a:path w="3466" h="10303" extrusionOk="0">
                  <a:moveTo>
                    <a:pt x="3466" y="0"/>
                  </a:moveTo>
                  <a:cubicBezTo>
                    <a:pt x="2300" y="95"/>
                    <a:pt x="977" y="473"/>
                    <a:pt x="0" y="1197"/>
                  </a:cubicBezTo>
                  <a:lnTo>
                    <a:pt x="0" y="10302"/>
                  </a:lnTo>
                  <a:cubicBezTo>
                    <a:pt x="977" y="9578"/>
                    <a:pt x="2237" y="9200"/>
                    <a:pt x="3466" y="9105"/>
                  </a:cubicBezTo>
                  <a:lnTo>
                    <a:pt x="346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351;p41">
              <a:extLst>
                <a:ext uri="{FF2B5EF4-FFF2-40B4-BE49-F238E27FC236}">
                  <a16:creationId xmlns:a16="http://schemas.microsoft.com/office/drawing/2014/main" id="{3B5FA9F6-C55B-408A-BB2A-8637BC2DDC5B}"/>
                </a:ext>
              </a:extLst>
            </p:cNvPr>
            <p:cNvSpPr/>
            <p:nvPr/>
          </p:nvSpPr>
          <p:spPr>
            <a:xfrm>
              <a:off x="-40378075" y="3308400"/>
              <a:ext cx="157550" cy="248125"/>
            </a:xfrm>
            <a:custGeom>
              <a:avLst/>
              <a:gdLst/>
              <a:ahLst/>
              <a:cxnLst/>
              <a:rect l="l" t="t" r="r" b="b"/>
              <a:pathLst>
                <a:path w="6302" h="9925" extrusionOk="0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664"/>
                  </a:lnTo>
                  <a:cubicBezTo>
                    <a:pt x="32" y="9357"/>
                    <a:pt x="567" y="9925"/>
                    <a:pt x="1229" y="9925"/>
                  </a:cubicBezTo>
                  <a:lnTo>
                    <a:pt x="6301" y="9925"/>
                  </a:lnTo>
                  <a:cubicBezTo>
                    <a:pt x="6112" y="9925"/>
                    <a:pt x="5766" y="9609"/>
                    <a:pt x="5608" y="9452"/>
                  </a:cubicBezTo>
                  <a:cubicBezTo>
                    <a:pt x="4631" y="8664"/>
                    <a:pt x="3277" y="8255"/>
                    <a:pt x="2048" y="8255"/>
                  </a:cubicBezTo>
                  <a:cubicBezTo>
                    <a:pt x="1828" y="8255"/>
                    <a:pt x="1638" y="8066"/>
                    <a:pt x="1638" y="7877"/>
                  </a:cubicBezTo>
                  <a:lnTo>
                    <a:pt x="163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75675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  <p:bldP spid="10" grpId="0" animBg="1"/>
      <p:bldP spid="12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77336BC4-D829-4BF8-B205-180B0EB04CD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8538" y="1772417"/>
            <a:ext cx="4386929" cy="3647722"/>
          </a:xfrm>
          <a:prstGeom prst="rect">
            <a:avLst/>
          </a:prstGeom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63930460-8154-4224-9BE2-690B4C7B0712}"/>
              </a:ext>
            </a:extLst>
          </p:cNvPr>
          <p:cNvSpPr/>
          <p:nvPr/>
        </p:nvSpPr>
        <p:spPr>
          <a:xfrm>
            <a:off x="19877" y="1033139"/>
            <a:ext cx="5221357" cy="626045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DC19683-6449-436E-9979-04032E46B990}"/>
              </a:ext>
            </a:extLst>
          </p:cNvPr>
          <p:cNvSpPr txBox="1"/>
          <p:nvPr/>
        </p:nvSpPr>
        <p:spPr>
          <a:xfrm>
            <a:off x="-510210" y="1033139"/>
            <a:ext cx="62815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solidFill>
                  <a:schemeClr val="accent2"/>
                </a:solidFill>
                <a:latin typeface="Raleway Bold" pitchFamily="2" charset="0"/>
              </a:rPr>
              <a:t>Méthode de développement 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61B06E41-7F82-4073-BEBD-8419C71DE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145" y="6974688"/>
            <a:ext cx="5497710" cy="3183834"/>
          </a:xfrm>
          <a:prstGeom prst="rect">
            <a:avLst/>
          </a:prstGeom>
        </p:spPr>
      </p:pic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4D94A14D-6290-4FF7-8B7D-27DE0DB78EB5}"/>
              </a:ext>
            </a:extLst>
          </p:cNvPr>
          <p:cNvSpPr/>
          <p:nvPr/>
        </p:nvSpPr>
        <p:spPr>
          <a:xfrm>
            <a:off x="10025269" y="6268278"/>
            <a:ext cx="2027583" cy="3441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C1C25EE-CF4D-41E6-8273-A7C3D855594F}"/>
              </a:ext>
            </a:extLst>
          </p:cNvPr>
          <p:cNvSpPr txBox="1"/>
          <p:nvPr/>
        </p:nvSpPr>
        <p:spPr>
          <a:xfrm>
            <a:off x="4962940" y="2527324"/>
            <a:ext cx="628815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CM" sz="28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Nous avons opté pour la </a:t>
            </a:r>
            <a:r>
              <a:rPr lang="fr-CM" sz="2800" b="1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méthode Scrum</a:t>
            </a:r>
            <a:r>
              <a:rPr lang="fr-CM" sz="28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fr-CM" sz="2800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car elle</a:t>
            </a:r>
            <a:r>
              <a:rPr lang="fr-CM" sz="28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permet de livrer rapidement un produit fonctionnel et de s’adapter efficacement aux demandes évolutives du client.</a:t>
            </a:r>
            <a:endParaRPr lang="fr-CM" sz="2800" dirty="0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34EA5B95-93D8-4D6E-84C2-189DB5C56CEF}"/>
              </a:ext>
            </a:extLst>
          </p:cNvPr>
          <p:cNvSpPr/>
          <p:nvPr/>
        </p:nvSpPr>
        <p:spPr>
          <a:xfrm>
            <a:off x="10025269" y="115754"/>
            <a:ext cx="2027583" cy="3441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>
              <a:solidFill>
                <a:srgbClr val="0070C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DA524D-1900-49A0-9AC2-3700D1ABE1FE}"/>
              </a:ext>
            </a:extLst>
          </p:cNvPr>
          <p:cNvSpPr/>
          <p:nvPr/>
        </p:nvSpPr>
        <p:spPr>
          <a:xfrm>
            <a:off x="238538" y="1772417"/>
            <a:ext cx="4386929" cy="36477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0" name="Google Shape;282;p36">
            <a:extLst>
              <a:ext uri="{FF2B5EF4-FFF2-40B4-BE49-F238E27FC236}">
                <a16:creationId xmlns:a16="http://schemas.microsoft.com/office/drawing/2014/main" id="{077543B3-309C-43BD-92E2-1885046D4BF5}"/>
              </a:ext>
            </a:extLst>
          </p:cNvPr>
          <p:cNvSpPr txBox="1">
            <a:spLocks/>
          </p:cNvSpPr>
          <p:nvPr/>
        </p:nvSpPr>
        <p:spPr>
          <a:xfrm>
            <a:off x="3215367" y="40375"/>
            <a:ext cx="7251199" cy="932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fr-FR" sz="4800" b="1" dirty="0">
                <a:solidFill>
                  <a:srgbClr val="0070C0"/>
                </a:solidFill>
                <a:latin typeface="Raleway" pitchFamily="2" charset="0"/>
              </a:rPr>
              <a:t>Matériels et Méthodes </a:t>
            </a:r>
          </a:p>
        </p:txBody>
      </p:sp>
    </p:spTree>
    <p:extLst>
      <p:ext uri="{BB962C8B-B14F-4D97-AF65-F5344CB8AC3E}">
        <p14:creationId xmlns:p14="http://schemas.microsoft.com/office/powerpoint/2010/main" val="3874675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6BD6D55-44D3-4185-9EBA-29112FBB7A8B}"/>
              </a:ext>
            </a:extLst>
          </p:cNvPr>
          <p:cNvSpPr/>
          <p:nvPr/>
        </p:nvSpPr>
        <p:spPr>
          <a:xfrm>
            <a:off x="4222176" y="801368"/>
            <a:ext cx="4043363" cy="10258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477FF13A-8762-4793-93D9-8FAF87392F45}"/>
              </a:ext>
            </a:extLst>
          </p:cNvPr>
          <p:cNvSpPr txBox="1"/>
          <p:nvPr/>
        </p:nvSpPr>
        <p:spPr>
          <a:xfrm>
            <a:off x="-154180" y="1279706"/>
            <a:ext cx="4265359" cy="461665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pPr algn="r"/>
            <a:r>
              <a:rPr lang="en-US" altLang="ko-KR" sz="24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Logiciels de développement</a:t>
            </a:r>
            <a:endParaRPr lang="ko-KR" altLang="en-US" sz="2400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그룹 3">
            <a:extLst>
              <a:ext uri="{FF2B5EF4-FFF2-40B4-BE49-F238E27FC236}">
                <a16:creationId xmlns:a16="http://schemas.microsoft.com/office/drawing/2014/main" id="{8B39B92D-3ACF-4433-AE6C-A7E4C8D27D11}"/>
              </a:ext>
            </a:extLst>
          </p:cNvPr>
          <p:cNvGrpSpPr/>
          <p:nvPr/>
        </p:nvGrpSpPr>
        <p:grpSpPr>
          <a:xfrm>
            <a:off x="4516357" y="1833997"/>
            <a:ext cx="3372186" cy="2647760"/>
            <a:chOff x="4708647" y="2258198"/>
            <a:chExt cx="3462733" cy="2951321"/>
          </a:xfrm>
          <a:effectLst>
            <a:outerShdw blurRad="228600" dist="50800" dir="5400000" algn="ctr" rotWithShape="0">
              <a:schemeClr val="bg1">
                <a:lumMod val="50000"/>
                <a:alpha val="72000"/>
              </a:schemeClr>
            </a:outerShdw>
          </a:effectLst>
        </p:grpSpPr>
        <p:sp>
          <p:nvSpPr>
            <p:cNvPr id="8" name="자유형: 도형 112">
              <a:extLst>
                <a:ext uri="{FF2B5EF4-FFF2-40B4-BE49-F238E27FC236}">
                  <a16:creationId xmlns:a16="http://schemas.microsoft.com/office/drawing/2014/main" id="{898D7C75-2AF7-482B-8692-097B30A0DC28}"/>
                </a:ext>
              </a:extLst>
            </p:cNvPr>
            <p:cNvSpPr/>
            <p:nvPr/>
          </p:nvSpPr>
          <p:spPr>
            <a:xfrm>
              <a:off x="5424880" y="2949383"/>
              <a:ext cx="1627206" cy="1631046"/>
            </a:xfrm>
            <a:custGeom>
              <a:avLst/>
              <a:gdLst>
                <a:gd name="connsiteX0" fmla="*/ 1702614 w 1792010"/>
                <a:gd name="connsiteY0" fmla="*/ 878442 h 1796239"/>
                <a:gd name="connsiteX1" fmla="*/ 1710060 w 1792010"/>
                <a:gd name="connsiteY1" fmla="*/ 883022 h 1796239"/>
                <a:gd name="connsiteX2" fmla="*/ 1702614 w 1792010"/>
                <a:gd name="connsiteY2" fmla="*/ 881183 h 1796239"/>
                <a:gd name="connsiteX3" fmla="*/ 896004 w 1792010"/>
                <a:gd name="connsiteY3" fmla="*/ 384279 h 1796239"/>
                <a:gd name="connsiteX4" fmla="*/ 379479 w 1792010"/>
                <a:gd name="connsiteY4" fmla="*/ 900804 h 1796239"/>
                <a:gd name="connsiteX5" fmla="*/ 896004 w 1792010"/>
                <a:gd name="connsiteY5" fmla="*/ 1417329 h 1796239"/>
                <a:gd name="connsiteX6" fmla="*/ 1412529 w 1792010"/>
                <a:gd name="connsiteY6" fmla="*/ 900804 h 1796239"/>
                <a:gd name="connsiteX7" fmla="*/ 896004 w 1792010"/>
                <a:gd name="connsiteY7" fmla="*/ 384279 h 1796239"/>
                <a:gd name="connsiteX8" fmla="*/ 998892 w 1792010"/>
                <a:gd name="connsiteY8" fmla="*/ 0 h 1796239"/>
                <a:gd name="connsiteX9" fmla="*/ 1263685 w 1792010"/>
                <a:gd name="connsiteY9" fmla="*/ 70112 h 1796239"/>
                <a:gd name="connsiteX10" fmla="*/ 1259890 w 1792010"/>
                <a:gd name="connsiteY10" fmla="*/ 292970 h 1796239"/>
                <a:gd name="connsiteX11" fmla="*/ 1252964 w 1792010"/>
                <a:gd name="connsiteY11" fmla="*/ 291136 h 1796239"/>
                <a:gd name="connsiteX12" fmla="*/ 1403555 w 1792010"/>
                <a:gd name="connsiteY12" fmla="*/ 406648 h 1796239"/>
                <a:gd name="connsiteX13" fmla="*/ 1604328 w 1792010"/>
                <a:gd name="connsiteY13" fmla="*/ 357315 h 1796239"/>
                <a:gd name="connsiteX14" fmla="*/ 1733027 w 1792010"/>
                <a:gd name="connsiteY14" fmla="*/ 596499 h 1796239"/>
                <a:gd name="connsiteX15" fmla="*/ 1589970 w 1792010"/>
                <a:gd name="connsiteY15" fmla="*/ 723947 h 1796239"/>
                <a:gd name="connsiteX16" fmla="*/ 1613321 w 1792010"/>
                <a:gd name="connsiteY16" fmla="*/ 924788 h 1796239"/>
                <a:gd name="connsiteX17" fmla="*/ 1792010 w 1792010"/>
                <a:gd name="connsiteY17" fmla="*/ 1022811 h 1796239"/>
                <a:gd name="connsiteX18" fmla="*/ 1721058 w 1792010"/>
                <a:gd name="connsiteY18" fmla="*/ 1284473 h 1796239"/>
                <a:gd name="connsiteX19" fmla="*/ 1504230 w 1792010"/>
                <a:gd name="connsiteY19" fmla="*/ 1280870 h 1796239"/>
                <a:gd name="connsiteX20" fmla="*/ 1406384 w 1792010"/>
                <a:gd name="connsiteY20" fmla="*/ 1403402 h 1796239"/>
                <a:gd name="connsiteX21" fmla="*/ 1477592 w 1792010"/>
                <a:gd name="connsiteY21" fmla="*/ 1587057 h 1796239"/>
                <a:gd name="connsiteX22" fmla="*/ 1253035 w 1792010"/>
                <a:gd name="connsiteY22" fmla="*/ 1742435 h 1796239"/>
                <a:gd name="connsiteX23" fmla="*/ 1163834 w 1792010"/>
                <a:gd name="connsiteY23" fmla="*/ 1665910 h 1796239"/>
                <a:gd name="connsiteX24" fmla="*/ 1163667 w 1792010"/>
                <a:gd name="connsiteY24" fmla="*/ 1666097 h 1796239"/>
                <a:gd name="connsiteX25" fmla="*/ 1144343 w 1792010"/>
                <a:gd name="connsiteY25" fmla="*/ 1649188 h 1796239"/>
                <a:gd name="connsiteX26" fmla="*/ 1082710 w 1792010"/>
                <a:gd name="connsiteY26" fmla="*/ 1596313 h 1796239"/>
                <a:gd name="connsiteX27" fmla="*/ 1083384 w 1792010"/>
                <a:gd name="connsiteY27" fmla="*/ 1595846 h 1796239"/>
                <a:gd name="connsiteX28" fmla="*/ 1076108 w 1792010"/>
                <a:gd name="connsiteY28" fmla="*/ 1589478 h 1796239"/>
                <a:gd name="connsiteX29" fmla="*/ 898869 w 1792010"/>
                <a:gd name="connsiteY29" fmla="*/ 1612479 h 1796239"/>
                <a:gd name="connsiteX30" fmla="*/ 795635 w 1792010"/>
                <a:gd name="connsiteY30" fmla="*/ 1796239 h 1796239"/>
                <a:gd name="connsiteX31" fmla="*/ 530840 w 1792010"/>
                <a:gd name="connsiteY31" fmla="*/ 1726127 h 1796239"/>
                <a:gd name="connsiteX32" fmla="*/ 534419 w 1792010"/>
                <a:gd name="connsiteY32" fmla="*/ 1515981 h 1796239"/>
                <a:gd name="connsiteX33" fmla="*/ 384791 w 1792010"/>
                <a:gd name="connsiteY33" fmla="*/ 1400008 h 1796239"/>
                <a:gd name="connsiteX34" fmla="*/ 388223 w 1792010"/>
                <a:gd name="connsiteY34" fmla="*/ 1407281 h 1796239"/>
                <a:gd name="connsiteX35" fmla="*/ 166784 w 1792010"/>
                <a:gd name="connsiteY35" fmla="*/ 1449671 h 1796239"/>
                <a:gd name="connsiteX36" fmla="*/ 50929 w 1792010"/>
                <a:gd name="connsiteY36" fmla="*/ 1204159 h 1796239"/>
                <a:gd name="connsiteX37" fmla="*/ 200689 w 1792010"/>
                <a:gd name="connsiteY37" fmla="*/ 1084166 h 1796239"/>
                <a:gd name="connsiteX38" fmla="*/ 176341 w 1792010"/>
                <a:gd name="connsiteY38" fmla="*/ 904529 h 1796239"/>
                <a:gd name="connsiteX39" fmla="*/ 0 w 1792010"/>
                <a:gd name="connsiteY39" fmla="*/ 807794 h 1796239"/>
                <a:gd name="connsiteX40" fmla="*/ 70951 w 1792010"/>
                <a:gd name="connsiteY40" fmla="*/ 546132 h 1796239"/>
                <a:gd name="connsiteX41" fmla="*/ 273028 w 1792010"/>
                <a:gd name="connsiteY41" fmla="*/ 549491 h 1796239"/>
                <a:gd name="connsiteX42" fmla="*/ 370996 w 1792010"/>
                <a:gd name="connsiteY42" fmla="*/ 419078 h 1796239"/>
                <a:gd name="connsiteX43" fmla="*/ 303314 w 1792010"/>
                <a:gd name="connsiteY43" fmla="*/ 212794 h 1796239"/>
                <a:gd name="connsiteX44" fmla="*/ 535794 w 1792010"/>
                <a:gd name="connsiteY44" fmla="*/ 69242 h 1796239"/>
                <a:gd name="connsiteX45" fmla="*/ 698144 w 1792010"/>
                <a:gd name="connsiteY45" fmla="*/ 223973 h 1796239"/>
                <a:gd name="connsiteX46" fmla="*/ 696512 w 1792010"/>
                <a:gd name="connsiteY46" fmla="*/ 224981 h 1796239"/>
                <a:gd name="connsiteX47" fmla="*/ 896341 w 1792010"/>
                <a:gd name="connsiteY47" fmla="*/ 196709 h 1796239"/>
                <a:gd name="connsiteX48" fmla="*/ 889414 w 1792010"/>
                <a:gd name="connsiteY48" fmla="*/ 194876 h 17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792010" h="1796239">
                  <a:moveTo>
                    <a:pt x="1702614" y="878442"/>
                  </a:moveTo>
                  <a:lnTo>
                    <a:pt x="1710060" y="883022"/>
                  </a:lnTo>
                  <a:lnTo>
                    <a:pt x="1702614" y="881183"/>
                  </a:lnTo>
                  <a:close/>
                  <a:moveTo>
                    <a:pt x="896004" y="384279"/>
                  </a:moveTo>
                  <a:cubicBezTo>
                    <a:pt x="610735" y="384279"/>
                    <a:pt x="379479" y="615535"/>
                    <a:pt x="379479" y="900804"/>
                  </a:cubicBezTo>
                  <a:cubicBezTo>
                    <a:pt x="379479" y="1186073"/>
                    <a:pt x="610735" y="1417329"/>
                    <a:pt x="896004" y="1417329"/>
                  </a:cubicBezTo>
                  <a:cubicBezTo>
                    <a:pt x="1181273" y="1417329"/>
                    <a:pt x="1412529" y="1186073"/>
                    <a:pt x="1412529" y="900804"/>
                  </a:cubicBezTo>
                  <a:cubicBezTo>
                    <a:pt x="1412529" y="615535"/>
                    <a:pt x="1181273" y="384279"/>
                    <a:pt x="896004" y="384279"/>
                  </a:cubicBezTo>
                  <a:close/>
                  <a:moveTo>
                    <a:pt x="998892" y="0"/>
                  </a:moveTo>
                  <a:lnTo>
                    <a:pt x="1263685" y="70112"/>
                  </a:lnTo>
                  <a:lnTo>
                    <a:pt x="1259890" y="292970"/>
                  </a:lnTo>
                  <a:lnTo>
                    <a:pt x="1252964" y="291136"/>
                  </a:lnTo>
                  <a:cubicBezTo>
                    <a:pt x="1309401" y="322522"/>
                    <a:pt x="1360410" y="361009"/>
                    <a:pt x="1403555" y="406648"/>
                  </a:cubicBezTo>
                  <a:lnTo>
                    <a:pt x="1604328" y="357315"/>
                  </a:lnTo>
                  <a:lnTo>
                    <a:pt x="1733027" y="596499"/>
                  </a:lnTo>
                  <a:lnTo>
                    <a:pt x="1589970" y="723947"/>
                  </a:lnTo>
                  <a:cubicBezTo>
                    <a:pt x="1607903" y="788494"/>
                    <a:pt x="1616355" y="856084"/>
                    <a:pt x="1613321" y="924788"/>
                  </a:cubicBezTo>
                  <a:lnTo>
                    <a:pt x="1792010" y="1022811"/>
                  </a:lnTo>
                  <a:lnTo>
                    <a:pt x="1721058" y="1284473"/>
                  </a:lnTo>
                  <a:lnTo>
                    <a:pt x="1504230" y="1280870"/>
                  </a:lnTo>
                  <a:cubicBezTo>
                    <a:pt x="1476815" y="1326134"/>
                    <a:pt x="1443601" y="1366958"/>
                    <a:pt x="1406384" y="1403402"/>
                  </a:cubicBezTo>
                  <a:lnTo>
                    <a:pt x="1477592" y="1587057"/>
                  </a:lnTo>
                  <a:lnTo>
                    <a:pt x="1253035" y="1742435"/>
                  </a:lnTo>
                  <a:lnTo>
                    <a:pt x="1163834" y="1665910"/>
                  </a:lnTo>
                  <a:lnTo>
                    <a:pt x="1163667" y="1666097"/>
                  </a:lnTo>
                  <a:lnTo>
                    <a:pt x="1144343" y="1649188"/>
                  </a:lnTo>
                  <a:lnTo>
                    <a:pt x="1082710" y="1596313"/>
                  </a:lnTo>
                  <a:lnTo>
                    <a:pt x="1083384" y="1595846"/>
                  </a:lnTo>
                  <a:lnTo>
                    <a:pt x="1076108" y="1589478"/>
                  </a:lnTo>
                  <a:cubicBezTo>
                    <a:pt x="1019150" y="1605403"/>
                    <a:pt x="959511" y="1612813"/>
                    <a:pt x="898869" y="1612479"/>
                  </a:cubicBezTo>
                  <a:lnTo>
                    <a:pt x="795635" y="1796239"/>
                  </a:lnTo>
                  <a:lnTo>
                    <a:pt x="530840" y="1726127"/>
                  </a:lnTo>
                  <a:lnTo>
                    <a:pt x="534419" y="1515981"/>
                  </a:lnTo>
                  <a:cubicBezTo>
                    <a:pt x="478307" y="1484379"/>
                    <a:pt x="427627" y="1445732"/>
                    <a:pt x="384791" y="1400008"/>
                  </a:cubicBezTo>
                  <a:lnTo>
                    <a:pt x="388223" y="1407281"/>
                  </a:lnTo>
                  <a:lnTo>
                    <a:pt x="166784" y="1449671"/>
                  </a:lnTo>
                  <a:lnTo>
                    <a:pt x="50929" y="1204159"/>
                  </a:lnTo>
                  <a:lnTo>
                    <a:pt x="200689" y="1084166"/>
                  </a:lnTo>
                  <a:cubicBezTo>
                    <a:pt x="184704" y="1026270"/>
                    <a:pt x="176353" y="965934"/>
                    <a:pt x="176341" y="904529"/>
                  </a:cubicBezTo>
                  <a:lnTo>
                    <a:pt x="0" y="807794"/>
                  </a:lnTo>
                  <a:lnTo>
                    <a:pt x="70951" y="546132"/>
                  </a:lnTo>
                  <a:lnTo>
                    <a:pt x="273028" y="549491"/>
                  </a:lnTo>
                  <a:cubicBezTo>
                    <a:pt x="300443" y="501683"/>
                    <a:pt x="333547" y="458094"/>
                    <a:pt x="370996" y="419078"/>
                  </a:cubicBezTo>
                  <a:lnTo>
                    <a:pt x="303314" y="212794"/>
                  </a:lnTo>
                  <a:lnTo>
                    <a:pt x="535794" y="69242"/>
                  </a:lnTo>
                  <a:lnTo>
                    <a:pt x="698144" y="223973"/>
                  </a:lnTo>
                  <a:lnTo>
                    <a:pt x="696512" y="224981"/>
                  </a:lnTo>
                  <a:cubicBezTo>
                    <a:pt x="760334" y="205136"/>
                    <a:pt x="827716" y="195964"/>
                    <a:pt x="896341" y="196709"/>
                  </a:cubicBezTo>
                  <a:lnTo>
                    <a:pt x="889414" y="19487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9" name="자유형: 도형 113">
              <a:extLst>
                <a:ext uri="{FF2B5EF4-FFF2-40B4-BE49-F238E27FC236}">
                  <a16:creationId xmlns:a16="http://schemas.microsoft.com/office/drawing/2014/main" id="{48416DC9-47AF-4BA5-A892-4CDC5A4C4431}"/>
                </a:ext>
              </a:extLst>
            </p:cNvPr>
            <p:cNvSpPr/>
            <p:nvPr/>
          </p:nvSpPr>
          <p:spPr>
            <a:xfrm>
              <a:off x="7043973" y="3247219"/>
              <a:ext cx="1127407" cy="1130068"/>
            </a:xfrm>
            <a:custGeom>
              <a:avLst/>
              <a:gdLst>
                <a:gd name="connsiteX0" fmla="*/ 1702614 w 1792010"/>
                <a:gd name="connsiteY0" fmla="*/ 878442 h 1796239"/>
                <a:gd name="connsiteX1" fmla="*/ 1710060 w 1792010"/>
                <a:gd name="connsiteY1" fmla="*/ 883022 h 1796239"/>
                <a:gd name="connsiteX2" fmla="*/ 1702614 w 1792010"/>
                <a:gd name="connsiteY2" fmla="*/ 881183 h 1796239"/>
                <a:gd name="connsiteX3" fmla="*/ 896004 w 1792010"/>
                <a:gd name="connsiteY3" fmla="*/ 384279 h 1796239"/>
                <a:gd name="connsiteX4" fmla="*/ 379479 w 1792010"/>
                <a:gd name="connsiteY4" fmla="*/ 900804 h 1796239"/>
                <a:gd name="connsiteX5" fmla="*/ 896004 w 1792010"/>
                <a:gd name="connsiteY5" fmla="*/ 1417329 h 1796239"/>
                <a:gd name="connsiteX6" fmla="*/ 1412529 w 1792010"/>
                <a:gd name="connsiteY6" fmla="*/ 900804 h 1796239"/>
                <a:gd name="connsiteX7" fmla="*/ 896004 w 1792010"/>
                <a:gd name="connsiteY7" fmla="*/ 384279 h 1796239"/>
                <a:gd name="connsiteX8" fmla="*/ 998892 w 1792010"/>
                <a:gd name="connsiteY8" fmla="*/ 0 h 1796239"/>
                <a:gd name="connsiteX9" fmla="*/ 1263685 w 1792010"/>
                <a:gd name="connsiteY9" fmla="*/ 70112 h 1796239"/>
                <a:gd name="connsiteX10" fmla="*/ 1259890 w 1792010"/>
                <a:gd name="connsiteY10" fmla="*/ 292970 h 1796239"/>
                <a:gd name="connsiteX11" fmla="*/ 1252964 w 1792010"/>
                <a:gd name="connsiteY11" fmla="*/ 291136 h 1796239"/>
                <a:gd name="connsiteX12" fmla="*/ 1403555 w 1792010"/>
                <a:gd name="connsiteY12" fmla="*/ 406648 h 1796239"/>
                <a:gd name="connsiteX13" fmla="*/ 1604328 w 1792010"/>
                <a:gd name="connsiteY13" fmla="*/ 357315 h 1796239"/>
                <a:gd name="connsiteX14" fmla="*/ 1733027 w 1792010"/>
                <a:gd name="connsiteY14" fmla="*/ 596499 h 1796239"/>
                <a:gd name="connsiteX15" fmla="*/ 1589970 w 1792010"/>
                <a:gd name="connsiteY15" fmla="*/ 723947 h 1796239"/>
                <a:gd name="connsiteX16" fmla="*/ 1613321 w 1792010"/>
                <a:gd name="connsiteY16" fmla="*/ 924788 h 1796239"/>
                <a:gd name="connsiteX17" fmla="*/ 1792010 w 1792010"/>
                <a:gd name="connsiteY17" fmla="*/ 1022811 h 1796239"/>
                <a:gd name="connsiteX18" fmla="*/ 1721058 w 1792010"/>
                <a:gd name="connsiteY18" fmla="*/ 1284473 h 1796239"/>
                <a:gd name="connsiteX19" fmla="*/ 1504230 w 1792010"/>
                <a:gd name="connsiteY19" fmla="*/ 1280870 h 1796239"/>
                <a:gd name="connsiteX20" fmla="*/ 1406384 w 1792010"/>
                <a:gd name="connsiteY20" fmla="*/ 1403402 h 1796239"/>
                <a:gd name="connsiteX21" fmla="*/ 1477592 w 1792010"/>
                <a:gd name="connsiteY21" fmla="*/ 1587057 h 1796239"/>
                <a:gd name="connsiteX22" fmla="*/ 1253035 w 1792010"/>
                <a:gd name="connsiteY22" fmla="*/ 1742435 h 1796239"/>
                <a:gd name="connsiteX23" fmla="*/ 1163834 w 1792010"/>
                <a:gd name="connsiteY23" fmla="*/ 1665910 h 1796239"/>
                <a:gd name="connsiteX24" fmla="*/ 1163667 w 1792010"/>
                <a:gd name="connsiteY24" fmla="*/ 1666097 h 1796239"/>
                <a:gd name="connsiteX25" fmla="*/ 1144343 w 1792010"/>
                <a:gd name="connsiteY25" fmla="*/ 1649188 h 1796239"/>
                <a:gd name="connsiteX26" fmla="*/ 1082710 w 1792010"/>
                <a:gd name="connsiteY26" fmla="*/ 1596313 h 1796239"/>
                <a:gd name="connsiteX27" fmla="*/ 1083384 w 1792010"/>
                <a:gd name="connsiteY27" fmla="*/ 1595846 h 1796239"/>
                <a:gd name="connsiteX28" fmla="*/ 1076108 w 1792010"/>
                <a:gd name="connsiteY28" fmla="*/ 1589478 h 1796239"/>
                <a:gd name="connsiteX29" fmla="*/ 898869 w 1792010"/>
                <a:gd name="connsiteY29" fmla="*/ 1612479 h 1796239"/>
                <a:gd name="connsiteX30" fmla="*/ 795635 w 1792010"/>
                <a:gd name="connsiteY30" fmla="*/ 1796239 h 1796239"/>
                <a:gd name="connsiteX31" fmla="*/ 530840 w 1792010"/>
                <a:gd name="connsiteY31" fmla="*/ 1726127 h 1796239"/>
                <a:gd name="connsiteX32" fmla="*/ 534419 w 1792010"/>
                <a:gd name="connsiteY32" fmla="*/ 1515981 h 1796239"/>
                <a:gd name="connsiteX33" fmla="*/ 384791 w 1792010"/>
                <a:gd name="connsiteY33" fmla="*/ 1400008 h 1796239"/>
                <a:gd name="connsiteX34" fmla="*/ 388223 w 1792010"/>
                <a:gd name="connsiteY34" fmla="*/ 1407281 h 1796239"/>
                <a:gd name="connsiteX35" fmla="*/ 166784 w 1792010"/>
                <a:gd name="connsiteY35" fmla="*/ 1449671 h 1796239"/>
                <a:gd name="connsiteX36" fmla="*/ 50929 w 1792010"/>
                <a:gd name="connsiteY36" fmla="*/ 1204159 h 1796239"/>
                <a:gd name="connsiteX37" fmla="*/ 200689 w 1792010"/>
                <a:gd name="connsiteY37" fmla="*/ 1084166 h 1796239"/>
                <a:gd name="connsiteX38" fmla="*/ 176341 w 1792010"/>
                <a:gd name="connsiteY38" fmla="*/ 904529 h 1796239"/>
                <a:gd name="connsiteX39" fmla="*/ 0 w 1792010"/>
                <a:gd name="connsiteY39" fmla="*/ 807794 h 1796239"/>
                <a:gd name="connsiteX40" fmla="*/ 70951 w 1792010"/>
                <a:gd name="connsiteY40" fmla="*/ 546132 h 1796239"/>
                <a:gd name="connsiteX41" fmla="*/ 273028 w 1792010"/>
                <a:gd name="connsiteY41" fmla="*/ 549491 h 1796239"/>
                <a:gd name="connsiteX42" fmla="*/ 370996 w 1792010"/>
                <a:gd name="connsiteY42" fmla="*/ 419078 h 1796239"/>
                <a:gd name="connsiteX43" fmla="*/ 303314 w 1792010"/>
                <a:gd name="connsiteY43" fmla="*/ 212794 h 1796239"/>
                <a:gd name="connsiteX44" fmla="*/ 535794 w 1792010"/>
                <a:gd name="connsiteY44" fmla="*/ 69242 h 1796239"/>
                <a:gd name="connsiteX45" fmla="*/ 698144 w 1792010"/>
                <a:gd name="connsiteY45" fmla="*/ 223973 h 1796239"/>
                <a:gd name="connsiteX46" fmla="*/ 696512 w 1792010"/>
                <a:gd name="connsiteY46" fmla="*/ 224981 h 1796239"/>
                <a:gd name="connsiteX47" fmla="*/ 896341 w 1792010"/>
                <a:gd name="connsiteY47" fmla="*/ 196709 h 1796239"/>
                <a:gd name="connsiteX48" fmla="*/ 889414 w 1792010"/>
                <a:gd name="connsiteY48" fmla="*/ 194876 h 17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792010" h="1796239">
                  <a:moveTo>
                    <a:pt x="1702614" y="878442"/>
                  </a:moveTo>
                  <a:lnTo>
                    <a:pt x="1710060" y="883022"/>
                  </a:lnTo>
                  <a:lnTo>
                    <a:pt x="1702614" y="881183"/>
                  </a:lnTo>
                  <a:close/>
                  <a:moveTo>
                    <a:pt x="896004" y="384279"/>
                  </a:moveTo>
                  <a:cubicBezTo>
                    <a:pt x="610735" y="384279"/>
                    <a:pt x="379479" y="615535"/>
                    <a:pt x="379479" y="900804"/>
                  </a:cubicBezTo>
                  <a:cubicBezTo>
                    <a:pt x="379479" y="1186073"/>
                    <a:pt x="610735" y="1417329"/>
                    <a:pt x="896004" y="1417329"/>
                  </a:cubicBezTo>
                  <a:cubicBezTo>
                    <a:pt x="1181273" y="1417329"/>
                    <a:pt x="1412529" y="1186073"/>
                    <a:pt x="1412529" y="900804"/>
                  </a:cubicBezTo>
                  <a:cubicBezTo>
                    <a:pt x="1412529" y="615535"/>
                    <a:pt x="1181273" y="384279"/>
                    <a:pt x="896004" y="384279"/>
                  </a:cubicBezTo>
                  <a:close/>
                  <a:moveTo>
                    <a:pt x="998892" y="0"/>
                  </a:moveTo>
                  <a:lnTo>
                    <a:pt x="1263685" y="70112"/>
                  </a:lnTo>
                  <a:lnTo>
                    <a:pt x="1259890" y="292970"/>
                  </a:lnTo>
                  <a:lnTo>
                    <a:pt x="1252964" y="291136"/>
                  </a:lnTo>
                  <a:cubicBezTo>
                    <a:pt x="1309401" y="322522"/>
                    <a:pt x="1360410" y="361009"/>
                    <a:pt x="1403555" y="406648"/>
                  </a:cubicBezTo>
                  <a:lnTo>
                    <a:pt x="1604328" y="357315"/>
                  </a:lnTo>
                  <a:lnTo>
                    <a:pt x="1733027" y="596499"/>
                  </a:lnTo>
                  <a:lnTo>
                    <a:pt x="1589970" y="723947"/>
                  </a:lnTo>
                  <a:cubicBezTo>
                    <a:pt x="1607903" y="788494"/>
                    <a:pt x="1616355" y="856084"/>
                    <a:pt x="1613321" y="924788"/>
                  </a:cubicBezTo>
                  <a:lnTo>
                    <a:pt x="1792010" y="1022811"/>
                  </a:lnTo>
                  <a:lnTo>
                    <a:pt x="1721058" y="1284473"/>
                  </a:lnTo>
                  <a:lnTo>
                    <a:pt x="1504230" y="1280870"/>
                  </a:lnTo>
                  <a:cubicBezTo>
                    <a:pt x="1476815" y="1326134"/>
                    <a:pt x="1443601" y="1366958"/>
                    <a:pt x="1406384" y="1403402"/>
                  </a:cubicBezTo>
                  <a:lnTo>
                    <a:pt x="1477592" y="1587057"/>
                  </a:lnTo>
                  <a:lnTo>
                    <a:pt x="1253035" y="1742435"/>
                  </a:lnTo>
                  <a:lnTo>
                    <a:pt x="1163834" y="1665910"/>
                  </a:lnTo>
                  <a:lnTo>
                    <a:pt x="1163667" y="1666097"/>
                  </a:lnTo>
                  <a:lnTo>
                    <a:pt x="1144343" y="1649188"/>
                  </a:lnTo>
                  <a:lnTo>
                    <a:pt x="1082710" y="1596313"/>
                  </a:lnTo>
                  <a:lnTo>
                    <a:pt x="1083384" y="1595846"/>
                  </a:lnTo>
                  <a:lnTo>
                    <a:pt x="1076108" y="1589478"/>
                  </a:lnTo>
                  <a:cubicBezTo>
                    <a:pt x="1019150" y="1605403"/>
                    <a:pt x="959511" y="1612813"/>
                    <a:pt x="898869" y="1612479"/>
                  </a:cubicBezTo>
                  <a:lnTo>
                    <a:pt x="795635" y="1796239"/>
                  </a:lnTo>
                  <a:lnTo>
                    <a:pt x="530840" y="1726127"/>
                  </a:lnTo>
                  <a:lnTo>
                    <a:pt x="534419" y="1515981"/>
                  </a:lnTo>
                  <a:cubicBezTo>
                    <a:pt x="478307" y="1484379"/>
                    <a:pt x="427627" y="1445732"/>
                    <a:pt x="384791" y="1400008"/>
                  </a:cubicBezTo>
                  <a:lnTo>
                    <a:pt x="388223" y="1407281"/>
                  </a:lnTo>
                  <a:lnTo>
                    <a:pt x="166784" y="1449671"/>
                  </a:lnTo>
                  <a:lnTo>
                    <a:pt x="50929" y="1204159"/>
                  </a:lnTo>
                  <a:lnTo>
                    <a:pt x="200689" y="1084166"/>
                  </a:lnTo>
                  <a:cubicBezTo>
                    <a:pt x="184704" y="1026270"/>
                    <a:pt x="176353" y="965934"/>
                    <a:pt x="176341" y="904529"/>
                  </a:cubicBezTo>
                  <a:lnTo>
                    <a:pt x="0" y="807794"/>
                  </a:lnTo>
                  <a:lnTo>
                    <a:pt x="70951" y="546132"/>
                  </a:lnTo>
                  <a:lnTo>
                    <a:pt x="273028" y="549491"/>
                  </a:lnTo>
                  <a:cubicBezTo>
                    <a:pt x="300443" y="501683"/>
                    <a:pt x="333547" y="458094"/>
                    <a:pt x="370996" y="419078"/>
                  </a:cubicBezTo>
                  <a:lnTo>
                    <a:pt x="303314" y="212794"/>
                  </a:lnTo>
                  <a:lnTo>
                    <a:pt x="535794" y="69242"/>
                  </a:lnTo>
                  <a:lnTo>
                    <a:pt x="698144" y="223973"/>
                  </a:lnTo>
                  <a:lnTo>
                    <a:pt x="696512" y="224981"/>
                  </a:lnTo>
                  <a:cubicBezTo>
                    <a:pt x="760334" y="205136"/>
                    <a:pt x="827716" y="195964"/>
                    <a:pt x="896341" y="196709"/>
                  </a:cubicBezTo>
                  <a:lnTo>
                    <a:pt x="889414" y="194876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10" name="자유형: 도형 114">
              <a:extLst>
                <a:ext uri="{FF2B5EF4-FFF2-40B4-BE49-F238E27FC236}">
                  <a16:creationId xmlns:a16="http://schemas.microsoft.com/office/drawing/2014/main" id="{33EC4F0A-3064-4A20-933A-036F1CA60BA6}"/>
                </a:ext>
              </a:extLst>
            </p:cNvPr>
            <p:cNvSpPr/>
            <p:nvPr/>
          </p:nvSpPr>
          <p:spPr>
            <a:xfrm rot="21387571">
              <a:off x="4755968" y="2258198"/>
              <a:ext cx="1127407" cy="1130068"/>
            </a:xfrm>
            <a:custGeom>
              <a:avLst/>
              <a:gdLst>
                <a:gd name="connsiteX0" fmla="*/ 1702614 w 1792010"/>
                <a:gd name="connsiteY0" fmla="*/ 878442 h 1796239"/>
                <a:gd name="connsiteX1" fmla="*/ 1710060 w 1792010"/>
                <a:gd name="connsiteY1" fmla="*/ 883022 h 1796239"/>
                <a:gd name="connsiteX2" fmla="*/ 1702614 w 1792010"/>
                <a:gd name="connsiteY2" fmla="*/ 881183 h 1796239"/>
                <a:gd name="connsiteX3" fmla="*/ 896004 w 1792010"/>
                <a:gd name="connsiteY3" fmla="*/ 384279 h 1796239"/>
                <a:gd name="connsiteX4" fmla="*/ 379479 w 1792010"/>
                <a:gd name="connsiteY4" fmla="*/ 900804 h 1796239"/>
                <a:gd name="connsiteX5" fmla="*/ 896004 w 1792010"/>
                <a:gd name="connsiteY5" fmla="*/ 1417329 h 1796239"/>
                <a:gd name="connsiteX6" fmla="*/ 1412529 w 1792010"/>
                <a:gd name="connsiteY6" fmla="*/ 900804 h 1796239"/>
                <a:gd name="connsiteX7" fmla="*/ 896004 w 1792010"/>
                <a:gd name="connsiteY7" fmla="*/ 384279 h 1796239"/>
                <a:gd name="connsiteX8" fmla="*/ 998892 w 1792010"/>
                <a:gd name="connsiteY8" fmla="*/ 0 h 1796239"/>
                <a:gd name="connsiteX9" fmla="*/ 1263685 w 1792010"/>
                <a:gd name="connsiteY9" fmla="*/ 70112 h 1796239"/>
                <a:gd name="connsiteX10" fmla="*/ 1259890 w 1792010"/>
                <a:gd name="connsiteY10" fmla="*/ 292970 h 1796239"/>
                <a:gd name="connsiteX11" fmla="*/ 1252964 w 1792010"/>
                <a:gd name="connsiteY11" fmla="*/ 291136 h 1796239"/>
                <a:gd name="connsiteX12" fmla="*/ 1403555 w 1792010"/>
                <a:gd name="connsiteY12" fmla="*/ 406648 h 1796239"/>
                <a:gd name="connsiteX13" fmla="*/ 1604328 w 1792010"/>
                <a:gd name="connsiteY13" fmla="*/ 357315 h 1796239"/>
                <a:gd name="connsiteX14" fmla="*/ 1733027 w 1792010"/>
                <a:gd name="connsiteY14" fmla="*/ 596499 h 1796239"/>
                <a:gd name="connsiteX15" fmla="*/ 1589970 w 1792010"/>
                <a:gd name="connsiteY15" fmla="*/ 723947 h 1796239"/>
                <a:gd name="connsiteX16" fmla="*/ 1613321 w 1792010"/>
                <a:gd name="connsiteY16" fmla="*/ 924788 h 1796239"/>
                <a:gd name="connsiteX17" fmla="*/ 1792010 w 1792010"/>
                <a:gd name="connsiteY17" fmla="*/ 1022811 h 1796239"/>
                <a:gd name="connsiteX18" fmla="*/ 1721058 w 1792010"/>
                <a:gd name="connsiteY18" fmla="*/ 1284473 h 1796239"/>
                <a:gd name="connsiteX19" fmla="*/ 1504230 w 1792010"/>
                <a:gd name="connsiteY19" fmla="*/ 1280870 h 1796239"/>
                <a:gd name="connsiteX20" fmla="*/ 1406384 w 1792010"/>
                <a:gd name="connsiteY20" fmla="*/ 1403402 h 1796239"/>
                <a:gd name="connsiteX21" fmla="*/ 1477592 w 1792010"/>
                <a:gd name="connsiteY21" fmla="*/ 1587057 h 1796239"/>
                <a:gd name="connsiteX22" fmla="*/ 1253035 w 1792010"/>
                <a:gd name="connsiteY22" fmla="*/ 1742435 h 1796239"/>
                <a:gd name="connsiteX23" fmla="*/ 1163834 w 1792010"/>
                <a:gd name="connsiteY23" fmla="*/ 1665910 h 1796239"/>
                <a:gd name="connsiteX24" fmla="*/ 1163667 w 1792010"/>
                <a:gd name="connsiteY24" fmla="*/ 1666097 h 1796239"/>
                <a:gd name="connsiteX25" fmla="*/ 1144343 w 1792010"/>
                <a:gd name="connsiteY25" fmla="*/ 1649188 h 1796239"/>
                <a:gd name="connsiteX26" fmla="*/ 1082710 w 1792010"/>
                <a:gd name="connsiteY26" fmla="*/ 1596313 h 1796239"/>
                <a:gd name="connsiteX27" fmla="*/ 1083384 w 1792010"/>
                <a:gd name="connsiteY27" fmla="*/ 1595846 h 1796239"/>
                <a:gd name="connsiteX28" fmla="*/ 1076108 w 1792010"/>
                <a:gd name="connsiteY28" fmla="*/ 1589478 h 1796239"/>
                <a:gd name="connsiteX29" fmla="*/ 898869 w 1792010"/>
                <a:gd name="connsiteY29" fmla="*/ 1612479 h 1796239"/>
                <a:gd name="connsiteX30" fmla="*/ 795635 w 1792010"/>
                <a:gd name="connsiteY30" fmla="*/ 1796239 h 1796239"/>
                <a:gd name="connsiteX31" fmla="*/ 530840 w 1792010"/>
                <a:gd name="connsiteY31" fmla="*/ 1726127 h 1796239"/>
                <a:gd name="connsiteX32" fmla="*/ 534419 w 1792010"/>
                <a:gd name="connsiteY32" fmla="*/ 1515981 h 1796239"/>
                <a:gd name="connsiteX33" fmla="*/ 384791 w 1792010"/>
                <a:gd name="connsiteY33" fmla="*/ 1400008 h 1796239"/>
                <a:gd name="connsiteX34" fmla="*/ 388223 w 1792010"/>
                <a:gd name="connsiteY34" fmla="*/ 1407281 h 1796239"/>
                <a:gd name="connsiteX35" fmla="*/ 166784 w 1792010"/>
                <a:gd name="connsiteY35" fmla="*/ 1449671 h 1796239"/>
                <a:gd name="connsiteX36" fmla="*/ 50929 w 1792010"/>
                <a:gd name="connsiteY36" fmla="*/ 1204159 h 1796239"/>
                <a:gd name="connsiteX37" fmla="*/ 200689 w 1792010"/>
                <a:gd name="connsiteY37" fmla="*/ 1084166 h 1796239"/>
                <a:gd name="connsiteX38" fmla="*/ 176341 w 1792010"/>
                <a:gd name="connsiteY38" fmla="*/ 904529 h 1796239"/>
                <a:gd name="connsiteX39" fmla="*/ 0 w 1792010"/>
                <a:gd name="connsiteY39" fmla="*/ 807794 h 1796239"/>
                <a:gd name="connsiteX40" fmla="*/ 70951 w 1792010"/>
                <a:gd name="connsiteY40" fmla="*/ 546132 h 1796239"/>
                <a:gd name="connsiteX41" fmla="*/ 273028 w 1792010"/>
                <a:gd name="connsiteY41" fmla="*/ 549491 h 1796239"/>
                <a:gd name="connsiteX42" fmla="*/ 370996 w 1792010"/>
                <a:gd name="connsiteY42" fmla="*/ 419078 h 1796239"/>
                <a:gd name="connsiteX43" fmla="*/ 303314 w 1792010"/>
                <a:gd name="connsiteY43" fmla="*/ 212794 h 1796239"/>
                <a:gd name="connsiteX44" fmla="*/ 535794 w 1792010"/>
                <a:gd name="connsiteY44" fmla="*/ 69242 h 1796239"/>
                <a:gd name="connsiteX45" fmla="*/ 698144 w 1792010"/>
                <a:gd name="connsiteY45" fmla="*/ 223973 h 1796239"/>
                <a:gd name="connsiteX46" fmla="*/ 696512 w 1792010"/>
                <a:gd name="connsiteY46" fmla="*/ 224981 h 1796239"/>
                <a:gd name="connsiteX47" fmla="*/ 896341 w 1792010"/>
                <a:gd name="connsiteY47" fmla="*/ 196709 h 1796239"/>
                <a:gd name="connsiteX48" fmla="*/ 889414 w 1792010"/>
                <a:gd name="connsiteY48" fmla="*/ 194876 h 17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792010" h="1796239">
                  <a:moveTo>
                    <a:pt x="1702614" y="878442"/>
                  </a:moveTo>
                  <a:lnTo>
                    <a:pt x="1710060" y="883022"/>
                  </a:lnTo>
                  <a:lnTo>
                    <a:pt x="1702614" y="881183"/>
                  </a:lnTo>
                  <a:close/>
                  <a:moveTo>
                    <a:pt x="896004" y="384279"/>
                  </a:moveTo>
                  <a:cubicBezTo>
                    <a:pt x="610735" y="384279"/>
                    <a:pt x="379479" y="615535"/>
                    <a:pt x="379479" y="900804"/>
                  </a:cubicBezTo>
                  <a:cubicBezTo>
                    <a:pt x="379479" y="1186073"/>
                    <a:pt x="610735" y="1417329"/>
                    <a:pt x="896004" y="1417329"/>
                  </a:cubicBezTo>
                  <a:cubicBezTo>
                    <a:pt x="1181273" y="1417329"/>
                    <a:pt x="1412529" y="1186073"/>
                    <a:pt x="1412529" y="900804"/>
                  </a:cubicBezTo>
                  <a:cubicBezTo>
                    <a:pt x="1412529" y="615535"/>
                    <a:pt x="1181273" y="384279"/>
                    <a:pt x="896004" y="384279"/>
                  </a:cubicBezTo>
                  <a:close/>
                  <a:moveTo>
                    <a:pt x="998892" y="0"/>
                  </a:moveTo>
                  <a:lnTo>
                    <a:pt x="1263685" y="70112"/>
                  </a:lnTo>
                  <a:lnTo>
                    <a:pt x="1259890" y="292970"/>
                  </a:lnTo>
                  <a:lnTo>
                    <a:pt x="1252964" y="291136"/>
                  </a:lnTo>
                  <a:cubicBezTo>
                    <a:pt x="1309401" y="322522"/>
                    <a:pt x="1360410" y="361009"/>
                    <a:pt x="1403555" y="406648"/>
                  </a:cubicBezTo>
                  <a:lnTo>
                    <a:pt x="1604328" y="357315"/>
                  </a:lnTo>
                  <a:lnTo>
                    <a:pt x="1733027" y="596499"/>
                  </a:lnTo>
                  <a:lnTo>
                    <a:pt x="1589970" y="723947"/>
                  </a:lnTo>
                  <a:cubicBezTo>
                    <a:pt x="1607903" y="788494"/>
                    <a:pt x="1616355" y="856084"/>
                    <a:pt x="1613321" y="924788"/>
                  </a:cubicBezTo>
                  <a:lnTo>
                    <a:pt x="1792010" y="1022811"/>
                  </a:lnTo>
                  <a:lnTo>
                    <a:pt x="1721058" y="1284473"/>
                  </a:lnTo>
                  <a:lnTo>
                    <a:pt x="1504230" y="1280870"/>
                  </a:lnTo>
                  <a:cubicBezTo>
                    <a:pt x="1476815" y="1326134"/>
                    <a:pt x="1443601" y="1366958"/>
                    <a:pt x="1406384" y="1403402"/>
                  </a:cubicBezTo>
                  <a:lnTo>
                    <a:pt x="1477592" y="1587057"/>
                  </a:lnTo>
                  <a:lnTo>
                    <a:pt x="1253035" y="1742435"/>
                  </a:lnTo>
                  <a:lnTo>
                    <a:pt x="1163834" y="1665910"/>
                  </a:lnTo>
                  <a:lnTo>
                    <a:pt x="1163667" y="1666097"/>
                  </a:lnTo>
                  <a:lnTo>
                    <a:pt x="1144343" y="1649188"/>
                  </a:lnTo>
                  <a:lnTo>
                    <a:pt x="1082710" y="1596313"/>
                  </a:lnTo>
                  <a:lnTo>
                    <a:pt x="1083384" y="1595846"/>
                  </a:lnTo>
                  <a:lnTo>
                    <a:pt x="1076108" y="1589478"/>
                  </a:lnTo>
                  <a:cubicBezTo>
                    <a:pt x="1019150" y="1605403"/>
                    <a:pt x="959511" y="1612813"/>
                    <a:pt x="898869" y="1612479"/>
                  </a:cubicBezTo>
                  <a:lnTo>
                    <a:pt x="795635" y="1796239"/>
                  </a:lnTo>
                  <a:lnTo>
                    <a:pt x="530840" y="1726127"/>
                  </a:lnTo>
                  <a:lnTo>
                    <a:pt x="534419" y="1515981"/>
                  </a:lnTo>
                  <a:cubicBezTo>
                    <a:pt x="478307" y="1484379"/>
                    <a:pt x="427627" y="1445732"/>
                    <a:pt x="384791" y="1400008"/>
                  </a:cubicBezTo>
                  <a:lnTo>
                    <a:pt x="388223" y="1407281"/>
                  </a:lnTo>
                  <a:lnTo>
                    <a:pt x="166784" y="1449671"/>
                  </a:lnTo>
                  <a:lnTo>
                    <a:pt x="50929" y="1204159"/>
                  </a:lnTo>
                  <a:lnTo>
                    <a:pt x="200689" y="1084166"/>
                  </a:lnTo>
                  <a:cubicBezTo>
                    <a:pt x="184704" y="1026270"/>
                    <a:pt x="176353" y="965934"/>
                    <a:pt x="176341" y="904529"/>
                  </a:cubicBezTo>
                  <a:lnTo>
                    <a:pt x="0" y="807794"/>
                  </a:lnTo>
                  <a:lnTo>
                    <a:pt x="70951" y="546132"/>
                  </a:lnTo>
                  <a:lnTo>
                    <a:pt x="273028" y="549491"/>
                  </a:lnTo>
                  <a:cubicBezTo>
                    <a:pt x="300443" y="501683"/>
                    <a:pt x="333547" y="458094"/>
                    <a:pt x="370996" y="419078"/>
                  </a:cubicBezTo>
                  <a:lnTo>
                    <a:pt x="303314" y="212794"/>
                  </a:lnTo>
                  <a:lnTo>
                    <a:pt x="535794" y="69242"/>
                  </a:lnTo>
                  <a:lnTo>
                    <a:pt x="698144" y="223973"/>
                  </a:lnTo>
                  <a:lnTo>
                    <a:pt x="696512" y="224981"/>
                  </a:lnTo>
                  <a:cubicBezTo>
                    <a:pt x="760334" y="205136"/>
                    <a:pt x="827716" y="195964"/>
                    <a:pt x="896341" y="196709"/>
                  </a:cubicBezTo>
                  <a:lnTo>
                    <a:pt x="889414" y="19487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12" name="자유형: 도형 116">
              <a:extLst>
                <a:ext uri="{FF2B5EF4-FFF2-40B4-BE49-F238E27FC236}">
                  <a16:creationId xmlns:a16="http://schemas.microsoft.com/office/drawing/2014/main" id="{323FAFF9-0B7D-4244-B866-5186C3E16B7B}"/>
                </a:ext>
              </a:extLst>
            </p:cNvPr>
            <p:cNvSpPr/>
            <p:nvPr/>
          </p:nvSpPr>
          <p:spPr>
            <a:xfrm>
              <a:off x="4708647" y="4079451"/>
              <a:ext cx="1127407" cy="1130068"/>
            </a:xfrm>
            <a:custGeom>
              <a:avLst/>
              <a:gdLst>
                <a:gd name="connsiteX0" fmla="*/ 1702614 w 1792010"/>
                <a:gd name="connsiteY0" fmla="*/ 878442 h 1796239"/>
                <a:gd name="connsiteX1" fmla="*/ 1710060 w 1792010"/>
                <a:gd name="connsiteY1" fmla="*/ 883022 h 1796239"/>
                <a:gd name="connsiteX2" fmla="*/ 1702614 w 1792010"/>
                <a:gd name="connsiteY2" fmla="*/ 881183 h 1796239"/>
                <a:gd name="connsiteX3" fmla="*/ 896004 w 1792010"/>
                <a:gd name="connsiteY3" fmla="*/ 384279 h 1796239"/>
                <a:gd name="connsiteX4" fmla="*/ 379479 w 1792010"/>
                <a:gd name="connsiteY4" fmla="*/ 900804 h 1796239"/>
                <a:gd name="connsiteX5" fmla="*/ 896004 w 1792010"/>
                <a:gd name="connsiteY5" fmla="*/ 1417329 h 1796239"/>
                <a:gd name="connsiteX6" fmla="*/ 1412529 w 1792010"/>
                <a:gd name="connsiteY6" fmla="*/ 900804 h 1796239"/>
                <a:gd name="connsiteX7" fmla="*/ 896004 w 1792010"/>
                <a:gd name="connsiteY7" fmla="*/ 384279 h 1796239"/>
                <a:gd name="connsiteX8" fmla="*/ 998892 w 1792010"/>
                <a:gd name="connsiteY8" fmla="*/ 0 h 1796239"/>
                <a:gd name="connsiteX9" fmla="*/ 1263685 w 1792010"/>
                <a:gd name="connsiteY9" fmla="*/ 70112 h 1796239"/>
                <a:gd name="connsiteX10" fmla="*/ 1259890 w 1792010"/>
                <a:gd name="connsiteY10" fmla="*/ 292970 h 1796239"/>
                <a:gd name="connsiteX11" fmla="*/ 1252964 w 1792010"/>
                <a:gd name="connsiteY11" fmla="*/ 291136 h 1796239"/>
                <a:gd name="connsiteX12" fmla="*/ 1403555 w 1792010"/>
                <a:gd name="connsiteY12" fmla="*/ 406648 h 1796239"/>
                <a:gd name="connsiteX13" fmla="*/ 1604328 w 1792010"/>
                <a:gd name="connsiteY13" fmla="*/ 357315 h 1796239"/>
                <a:gd name="connsiteX14" fmla="*/ 1733027 w 1792010"/>
                <a:gd name="connsiteY14" fmla="*/ 596499 h 1796239"/>
                <a:gd name="connsiteX15" fmla="*/ 1589970 w 1792010"/>
                <a:gd name="connsiteY15" fmla="*/ 723947 h 1796239"/>
                <a:gd name="connsiteX16" fmla="*/ 1613321 w 1792010"/>
                <a:gd name="connsiteY16" fmla="*/ 924788 h 1796239"/>
                <a:gd name="connsiteX17" fmla="*/ 1792010 w 1792010"/>
                <a:gd name="connsiteY17" fmla="*/ 1022811 h 1796239"/>
                <a:gd name="connsiteX18" fmla="*/ 1721058 w 1792010"/>
                <a:gd name="connsiteY18" fmla="*/ 1284473 h 1796239"/>
                <a:gd name="connsiteX19" fmla="*/ 1504230 w 1792010"/>
                <a:gd name="connsiteY19" fmla="*/ 1280870 h 1796239"/>
                <a:gd name="connsiteX20" fmla="*/ 1406384 w 1792010"/>
                <a:gd name="connsiteY20" fmla="*/ 1403402 h 1796239"/>
                <a:gd name="connsiteX21" fmla="*/ 1477592 w 1792010"/>
                <a:gd name="connsiteY21" fmla="*/ 1587057 h 1796239"/>
                <a:gd name="connsiteX22" fmla="*/ 1253035 w 1792010"/>
                <a:gd name="connsiteY22" fmla="*/ 1742435 h 1796239"/>
                <a:gd name="connsiteX23" fmla="*/ 1163834 w 1792010"/>
                <a:gd name="connsiteY23" fmla="*/ 1665910 h 1796239"/>
                <a:gd name="connsiteX24" fmla="*/ 1163667 w 1792010"/>
                <a:gd name="connsiteY24" fmla="*/ 1666097 h 1796239"/>
                <a:gd name="connsiteX25" fmla="*/ 1144343 w 1792010"/>
                <a:gd name="connsiteY25" fmla="*/ 1649188 h 1796239"/>
                <a:gd name="connsiteX26" fmla="*/ 1082710 w 1792010"/>
                <a:gd name="connsiteY26" fmla="*/ 1596313 h 1796239"/>
                <a:gd name="connsiteX27" fmla="*/ 1083384 w 1792010"/>
                <a:gd name="connsiteY27" fmla="*/ 1595846 h 1796239"/>
                <a:gd name="connsiteX28" fmla="*/ 1076108 w 1792010"/>
                <a:gd name="connsiteY28" fmla="*/ 1589478 h 1796239"/>
                <a:gd name="connsiteX29" fmla="*/ 898869 w 1792010"/>
                <a:gd name="connsiteY29" fmla="*/ 1612479 h 1796239"/>
                <a:gd name="connsiteX30" fmla="*/ 795635 w 1792010"/>
                <a:gd name="connsiteY30" fmla="*/ 1796239 h 1796239"/>
                <a:gd name="connsiteX31" fmla="*/ 530840 w 1792010"/>
                <a:gd name="connsiteY31" fmla="*/ 1726127 h 1796239"/>
                <a:gd name="connsiteX32" fmla="*/ 534419 w 1792010"/>
                <a:gd name="connsiteY32" fmla="*/ 1515981 h 1796239"/>
                <a:gd name="connsiteX33" fmla="*/ 384791 w 1792010"/>
                <a:gd name="connsiteY33" fmla="*/ 1400008 h 1796239"/>
                <a:gd name="connsiteX34" fmla="*/ 388223 w 1792010"/>
                <a:gd name="connsiteY34" fmla="*/ 1407281 h 1796239"/>
                <a:gd name="connsiteX35" fmla="*/ 166784 w 1792010"/>
                <a:gd name="connsiteY35" fmla="*/ 1449671 h 1796239"/>
                <a:gd name="connsiteX36" fmla="*/ 50929 w 1792010"/>
                <a:gd name="connsiteY36" fmla="*/ 1204159 h 1796239"/>
                <a:gd name="connsiteX37" fmla="*/ 200689 w 1792010"/>
                <a:gd name="connsiteY37" fmla="*/ 1084166 h 1796239"/>
                <a:gd name="connsiteX38" fmla="*/ 176341 w 1792010"/>
                <a:gd name="connsiteY38" fmla="*/ 904529 h 1796239"/>
                <a:gd name="connsiteX39" fmla="*/ 0 w 1792010"/>
                <a:gd name="connsiteY39" fmla="*/ 807794 h 1796239"/>
                <a:gd name="connsiteX40" fmla="*/ 70951 w 1792010"/>
                <a:gd name="connsiteY40" fmla="*/ 546132 h 1796239"/>
                <a:gd name="connsiteX41" fmla="*/ 273028 w 1792010"/>
                <a:gd name="connsiteY41" fmla="*/ 549491 h 1796239"/>
                <a:gd name="connsiteX42" fmla="*/ 370996 w 1792010"/>
                <a:gd name="connsiteY42" fmla="*/ 419078 h 1796239"/>
                <a:gd name="connsiteX43" fmla="*/ 303314 w 1792010"/>
                <a:gd name="connsiteY43" fmla="*/ 212794 h 1796239"/>
                <a:gd name="connsiteX44" fmla="*/ 535794 w 1792010"/>
                <a:gd name="connsiteY44" fmla="*/ 69242 h 1796239"/>
                <a:gd name="connsiteX45" fmla="*/ 698144 w 1792010"/>
                <a:gd name="connsiteY45" fmla="*/ 223973 h 1796239"/>
                <a:gd name="connsiteX46" fmla="*/ 696512 w 1792010"/>
                <a:gd name="connsiteY46" fmla="*/ 224981 h 1796239"/>
                <a:gd name="connsiteX47" fmla="*/ 896341 w 1792010"/>
                <a:gd name="connsiteY47" fmla="*/ 196709 h 1796239"/>
                <a:gd name="connsiteX48" fmla="*/ 889414 w 1792010"/>
                <a:gd name="connsiteY48" fmla="*/ 194876 h 17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792010" h="1796239">
                  <a:moveTo>
                    <a:pt x="1702614" y="878442"/>
                  </a:moveTo>
                  <a:lnTo>
                    <a:pt x="1710060" y="883022"/>
                  </a:lnTo>
                  <a:lnTo>
                    <a:pt x="1702614" y="881183"/>
                  </a:lnTo>
                  <a:close/>
                  <a:moveTo>
                    <a:pt x="896004" y="384279"/>
                  </a:moveTo>
                  <a:cubicBezTo>
                    <a:pt x="610735" y="384279"/>
                    <a:pt x="379479" y="615535"/>
                    <a:pt x="379479" y="900804"/>
                  </a:cubicBezTo>
                  <a:cubicBezTo>
                    <a:pt x="379479" y="1186073"/>
                    <a:pt x="610735" y="1417329"/>
                    <a:pt x="896004" y="1417329"/>
                  </a:cubicBezTo>
                  <a:cubicBezTo>
                    <a:pt x="1181273" y="1417329"/>
                    <a:pt x="1412529" y="1186073"/>
                    <a:pt x="1412529" y="900804"/>
                  </a:cubicBezTo>
                  <a:cubicBezTo>
                    <a:pt x="1412529" y="615535"/>
                    <a:pt x="1181273" y="384279"/>
                    <a:pt x="896004" y="384279"/>
                  </a:cubicBezTo>
                  <a:close/>
                  <a:moveTo>
                    <a:pt x="998892" y="0"/>
                  </a:moveTo>
                  <a:lnTo>
                    <a:pt x="1263685" y="70112"/>
                  </a:lnTo>
                  <a:lnTo>
                    <a:pt x="1259890" y="292970"/>
                  </a:lnTo>
                  <a:lnTo>
                    <a:pt x="1252964" y="291136"/>
                  </a:lnTo>
                  <a:cubicBezTo>
                    <a:pt x="1309401" y="322522"/>
                    <a:pt x="1360410" y="361009"/>
                    <a:pt x="1403555" y="406648"/>
                  </a:cubicBezTo>
                  <a:lnTo>
                    <a:pt x="1604328" y="357315"/>
                  </a:lnTo>
                  <a:lnTo>
                    <a:pt x="1733027" y="596499"/>
                  </a:lnTo>
                  <a:lnTo>
                    <a:pt x="1589970" y="723947"/>
                  </a:lnTo>
                  <a:cubicBezTo>
                    <a:pt x="1607903" y="788494"/>
                    <a:pt x="1616355" y="856084"/>
                    <a:pt x="1613321" y="924788"/>
                  </a:cubicBezTo>
                  <a:lnTo>
                    <a:pt x="1792010" y="1022811"/>
                  </a:lnTo>
                  <a:lnTo>
                    <a:pt x="1721058" y="1284473"/>
                  </a:lnTo>
                  <a:lnTo>
                    <a:pt x="1504230" y="1280870"/>
                  </a:lnTo>
                  <a:cubicBezTo>
                    <a:pt x="1476815" y="1326134"/>
                    <a:pt x="1443601" y="1366958"/>
                    <a:pt x="1406384" y="1403402"/>
                  </a:cubicBezTo>
                  <a:lnTo>
                    <a:pt x="1477592" y="1587057"/>
                  </a:lnTo>
                  <a:lnTo>
                    <a:pt x="1253035" y="1742435"/>
                  </a:lnTo>
                  <a:lnTo>
                    <a:pt x="1163834" y="1665910"/>
                  </a:lnTo>
                  <a:lnTo>
                    <a:pt x="1163667" y="1666097"/>
                  </a:lnTo>
                  <a:lnTo>
                    <a:pt x="1144343" y="1649188"/>
                  </a:lnTo>
                  <a:lnTo>
                    <a:pt x="1082710" y="1596313"/>
                  </a:lnTo>
                  <a:lnTo>
                    <a:pt x="1083384" y="1595846"/>
                  </a:lnTo>
                  <a:lnTo>
                    <a:pt x="1076108" y="1589478"/>
                  </a:lnTo>
                  <a:cubicBezTo>
                    <a:pt x="1019150" y="1605403"/>
                    <a:pt x="959511" y="1612813"/>
                    <a:pt x="898869" y="1612479"/>
                  </a:cubicBezTo>
                  <a:lnTo>
                    <a:pt x="795635" y="1796239"/>
                  </a:lnTo>
                  <a:lnTo>
                    <a:pt x="530840" y="1726127"/>
                  </a:lnTo>
                  <a:lnTo>
                    <a:pt x="534419" y="1515981"/>
                  </a:lnTo>
                  <a:cubicBezTo>
                    <a:pt x="478307" y="1484379"/>
                    <a:pt x="427627" y="1445732"/>
                    <a:pt x="384791" y="1400008"/>
                  </a:cubicBezTo>
                  <a:lnTo>
                    <a:pt x="388223" y="1407281"/>
                  </a:lnTo>
                  <a:lnTo>
                    <a:pt x="166784" y="1449671"/>
                  </a:lnTo>
                  <a:lnTo>
                    <a:pt x="50929" y="1204159"/>
                  </a:lnTo>
                  <a:lnTo>
                    <a:pt x="200689" y="1084166"/>
                  </a:lnTo>
                  <a:cubicBezTo>
                    <a:pt x="184704" y="1026270"/>
                    <a:pt x="176353" y="965934"/>
                    <a:pt x="176341" y="904529"/>
                  </a:cubicBezTo>
                  <a:lnTo>
                    <a:pt x="0" y="807794"/>
                  </a:lnTo>
                  <a:lnTo>
                    <a:pt x="70951" y="546132"/>
                  </a:lnTo>
                  <a:lnTo>
                    <a:pt x="273028" y="549491"/>
                  </a:lnTo>
                  <a:cubicBezTo>
                    <a:pt x="300443" y="501683"/>
                    <a:pt x="333547" y="458094"/>
                    <a:pt x="370996" y="419078"/>
                  </a:cubicBezTo>
                  <a:lnTo>
                    <a:pt x="303314" y="212794"/>
                  </a:lnTo>
                  <a:lnTo>
                    <a:pt x="535794" y="69242"/>
                  </a:lnTo>
                  <a:lnTo>
                    <a:pt x="698144" y="223973"/>
                  </a:lnTo>
                  <a:lnTo>
                    <a:pt x="696512" y="224981"/>
                  </a:lnTo>
                  <a:cubicBezTo>
                    <a:pt x="760334" y="205136"/>
                    <a:pt x="827716" y="195964"/>
                    <a:pt x="896341" y="196709"/>
                  </a:cubicBezTo>
                  <a:lnTo>
                    <a:pt x="889414" y="194876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sp>
        <p:nvSpPr>
          <p:cNvPr id="13" name="TextBox 22">
            <a:extLst>
              <a:ext uri="{FF2B5EF4-FFF2-40B4-BE49-F238E27FC236}">
                <a16:creationId xmlns:a16="http://schemas.microsoft.com/office/drawing/2014/main" id="{228196B9-7E77-4010-9B64-DA63CF0D8900}"/>
              </a:ext>
            </a:extLst>
          </p:cNvPr>
          <p:cNvSpPr txBox="1"/>
          <p:nvPr/>
        </p:nvSpPr>
        <p:spPr>
          <a:xfrm>
            <a:off x="-1586291" y="3298517"/>
            <a:ext cx="4265359" cy="461665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pPr algn="r"/>
            <a:r>
              <a:rPr lang="en-US" altLang="ko-KR" sz="2400" b="1" dirty="0" err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Autres</a:t>
            </a:r>
            <a:r>
              <a:rPr lang="en-US" altLang="ko-KR" sz="24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dirty="0" err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logiciels</a:t>
            </a:r>
            <a:endParaRPr lang="ko-KR" altLang="en-US" sz="2400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22">
            <a:extLst>
              <a:ext uri="{FF2B5EF4-FFF2-40B4-BE49-F238E27FC236}">
                <a16:creationId xmlns:a16="http://schemas.microsoft.com/office/drawing/2014/main" id="{B329E66B-78CB-4D8E-8CDF-F6F7D7092BFE}"/>
              </a:ext>
            </a:extLst>
          </p:cNvPr>
          <p:cNvSpPr txBox="1"/>
          <p:nvPr/>
        </p:nvSpPr>
        <p:spPr>
          <a:xfrm>
            <a:off x="8423763" y="1225279"/>
            <a:ext cx="4265359" cy="461665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r>
              <a:rPr lang="en-US" altLang="ko-KR" sz="24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Quelques langages</a:t>
            </a:r>
            <a:endParaRPr lang="ko-KR" altLang="en-US" sz="2400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1CE7D3-1437-44A8-8187-349AED36D970}"/>
              </a:ext>
            </a:extLst>
          </p:cNvPr>
          <p:cNvSpPr txBox="1"/>
          <p:nvPr/>
        </p:nvSpPr>
        <p:spPr>
          <a:xfrm>
            <a:off x="9535128" y="3011636"/>
            <a:ext cx="1778002" cy="461665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r>
              <a:rPr lang="en-US" altLang="ko-KR" sz="24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endParaRPr lang="ko-KR" altLang="en-US" sz="2400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22">
            <a:extLst>
              <a:ext uri="{FF2B5EF4-FFF2-40B4-BE49-F238E27FC236}">
                <a16:creationId xmlns:a16="http://schemas.microsoft.com/office/drawing/2014/main" id="{986C260D-6FCD-4098-9F7A-B95093C0777E}"/>
              </a:ext>
            </a:extLst>
          </p:cNvPr>
          <p:cNvSpPr txBox="1"/>
          <p:nvPr/>
        </p:nvSpPr>
        <p:spPr>
          <a:xfrm>
            <a:off x="736139" y="3987949"/>
            <a:ext cx="4265359" cy="1323439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r>
              <a:rPr lang="fr-CM" sz="2000" dirty="0">
                <a:latin typeface="Raleway" pitchFamily="2" charset="0"/>
                <a:cs typeface="Times New Roman" panose="02020603050405020304" pitchFamily="18" charset="0"/>
              </a:rPr>
              <a:t>Draw.io</a:t>
            </a:r>
          </a:p>
          <a:p>
            <a:r>
              <a:rPr lang="en-US" altLang="ko-KR" sz="2000" dirty="0">
                <a:latin typeface="Raleway" pitchFamily="2" charset="0"/>
                <a:cs typeface="Times New Roman" panose="02020603050405020304" pitchFamily="18" charset="0"/>
              </a:rPr>
              <a:t>Adobe photoshop CC 2023 </a:t>
            </a:r>
          </a:p>
          <a:p>
            <a:r>
              <a:rPr lang="en-US" altLang="ko-KR" sz="2000" dirty="0">
                <a:latin typeface="Raleway" pitchFamily="2" charset="0"/>
                <a:cs typeface="Times New Roman" panose="02020603050405020304" pitchFamily="18" charset="0"/>
              </a:rPr>
              <a:t>Adobe xd 2021</a:t>
            </a:r>
          </a:p>
          <a:p>
            <a:r>
              <a:rPr lang="en-US" altLang="ko-KR" sz="2000" dirty="0">
                <a:latin typeface="Raleway" pitchFamily="2" charset="0"/>
                <a:cs typeface="Times New Roman" panose="02020603050405020304" pitchFamily="18" charset="0"/>
              </a:rPr>
              <a:t>overleaf </a:t>
            </a:r>
          </a:p>
        </p:txBody>
      </p:sp>
      <p:sp>
        <p:nvSpPr>
          <p:cNvPr id="17" name="TextBox 22">
            <a:extLst>
              <a:ext uri="{FF2B5EF4-FFF2-40B4-BE49-F238E27FC236}">
                <a16:creationId xmlns:a16="http://schemas.microsoft.com/office/drawing/2014/main" id="{57CF9444-7DFF-42E4-838D-FDD5B7C2811C}"/>
              </a:ext>
            </a:extLst>
          </p:cNvPr>
          <p:cNvSpPr txBox="1"/>
          <p:nvPr/>
        </p:nvSpPr>
        <p:spPr>
          <a:xfrm>
            <a:off x="9001661" y="3324268"/>
            <a:ext cx="2967501" cy="1015663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r>
              <a:rPr lang="en-US" altLang="ko-KR" sz="2000" dirty="0">
                <a:latin typeface="Raleway" pitchFamily="2" charset="0"/>
                <a:cs typeface="Times New Roman" panose="02020603050405020304" pitchFamily="18" charset="0"/>
              </a:rPr>
              <a:t>Le framework Note.js </a:t>
            </a:r>
          </a:p>
          <a:p>
            <a:r>
              <a:rPr lang="en-US" altLang="ko-KR" sz="2000" dirty="0">
                <a:latin typeface="Raleway" pitchFamily="2" charset="0"/>
                <a:cs typeface="Times New Roman" panose="02020603050405020304" pitchFamily="18" charset="0"/>
              </a:rPr>
              <a:t>Le framework </a:t>
            </a:r>
            <a:r>
              <a:rPr lang="en-US" altLang="ko-KR" sz="2000" dirty="0" err="1">
                <a:latin typeface="Raleway" pitchFamily="2" charset="0"/>
                <a:cs typeface="Times New Roman" panose="02020603050405020304" pitchFamily="18" charset="0"/>
              </a:rPr>
              <a:t>tailwindcss</a:t>
            </a:r>
            <a:endParaRPr lang="en-US" altLang="ko-KR" sz="2000" dirty="0">
              <a:latin typeface="Raleway" pitchFamily="2" charset="0"/>
              <a:cs typeface="Times New Roman" panose="02020603050405020304" pitchFamily="18" charset="0"/>
            </a:endParaRPr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6199366A-D4E4-4E79-B1B2-146B5AE5C31C}"/>
              </a:ext>
            </a:extLst>
          </p:cNvPr>
          <p:cNvSpPr txBox="1"/>
          <p:nvPr/>
        </p:nvSpPr>
        <p:spPr>
          <a:xfrm>
            <a:off x="8510075" y="1785747"/>
            <a:ext cx="3630552" cy="1015663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r>
              <a:rPr lang="en-US" altLang="ko-KR" sz="2000" dirty="0">
                <a:latin typeface="Raleway" pitchFamily="2" charset="0"/>
                <a:cs typeface="Times New Roman" panose="02020603050405020304" pitchFamily="18" charset="0"/>
              </a:rPr>
              <a:t>Type scrip                  HTML</a:t>
            </a:r>
          </a:p>
          <a:p>
            <a:r>
              <a:rPr lang="en-US" altLang="ko-KR" sz="2000" dirty="0">
                <a:latin typeface="Raleway" pitchFamily="2" charset="0"/>
                <a:cs typeface="Times New Roman" panose="02020603050405020304" pitchFamily="18" charset="0"/>
              </a:rPr>
              <a:t>SQL</a:t>
            </a:r>
          </a:p>
          <a:p>
            <a:r>
              <a:rPr lang="en-US" altLang="ko-KR" sz="2000" dirty="0">
                <a:latin typeface="Raleway" pitchFamily="2" charset="0"/>
                <a:cs typeface="Times New Roman" panose="02020603050405020304" pitchFamily="18" charset="0"/>
              </a:rPr>
              <a:t>css</a:t>
            </a:r>
            <a:endParaRPr lang="ko-KR" altLang="en-US" sz="2000" dirty="0">
              <a:latin typeface="Raleway" pitchFamily="2" charset="0"/>
              <a:cs typeface="Times New Roman" panose="02020603050405020304" pitchFamily="18" charset="0"/>
            </a:endParaRP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DED5D57B-AF3F-4C3D-861B-E78EB5D54C47}"/>
              </a:ext>
            </a:extLst>
          </p:cNvPr>
          <p:cNvSpPr txBox="1"/>
          <p:nvPr/>
        </p:nvSpPr>
        <p:spPr>
          <a:xfrm>
            <a:off x="3425377" y="4789632"/>
            <a:ext cx="3602693" cy="461665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pPr algn="r"/>
            <a:r>
              <a:rPr lang="en-US" altLang="ko-KR" sz="24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Resources </a:t>
            </a:r>
            <a:r>
              <a:rPr lang="en-US" altLang="ko-KR" sz="2400" b="1" dirty="0" err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matérielles</a:t>
            </a:r>
            <a:endParaRPr lang="ko-KR" altLang="en-US" sz="2400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98CBAEA9-7C1F-432F-93F4-8024899F8908}"/>
              </a:ext>
            </a:extLst>
          </p:cNvPr>
          <p:cNvSpPr txBox="1"/>
          <p:nvPr/>
        </p:nvSpPr>
        <p:spPr>
          <a:xfrm>
            <a:off x="4111179" y="5337160"/>
            <a:ext cx="4265358" cy="1015663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r>
              <a:rPr lang="fr-CM" altLang="ko-KR" sz="2000" dirty="0">
                <a:latin typeface="Raleway" pitchFamily="2" charset="0"/>
                <a:cs typeface="Times New Roman" panose="02020603050405020304" pitchFamily="18" charset="0"/>
              </a:rPr>
              <a:t>Ordinateur</a:t>
            </a:r>
            <a:r>
              <a:rPr lang="en-US" altLang="ko-KR" sz="2000" dirty="0">
                <a:latin typeface="Raleway" pitchFamily="2" charset="0"/>
                <a:cs typeface="Times New Roman" panose="02020603050405020304" pitchFamily="18" charset="0"/>
              </a:rPr>
              <a:t> HP Elite Book</a:t>
            </a:r>
          </a:p>
          <a:p>
            <a:r>
              <a:rPr lang="en-US" altLang="ko-KR" sz="2000" dirty="0">
                <a:latin typeface="Raleway" pitchFamily="2" charset="0"/>
                <a:cs typeface="Times New Roman" panose="02020603050405020304" pitchFamily="18" charset="0"/>
              </a:rPr>
              <a:t>Smartphone</a:t>
            </a:r>
          </a:p>
          <a:p>
            <a:r>
              <a:rPr lang="en-US" altLang="ko-KR" sz="2000" dirty="0">
                <a:latin typeface="Raleway" pitchFamily="2" charset="0"/>
                <a:cs typeface="Times New Roman" panose="02020603050405020304" pitchFamily="18" charset="0"/>
              </a:rPr>
              <a:t>Modem mtn</a:t>
            </a:r>
            <a:endParaRPr lang="ko-KR" altLang="en-US" sz="2000" dirty="0">
              <a:latin typeface="Raleway" pitchFamily="2" charset="0"/>
              <a:cs typeface="Times New Roman" panose="02020603050405020304" pitchFamily="18" charset="0"/>
            </a:endParaRP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D750D510-603B-4541-A98D-60CD8831BD59}"/>
              </a:ext>
            </a:extLst>
          </p:cNvPr>
          <p:cNvSpPr txBox="1"/>
          <p:nvPr/>
        </p:nvSpPr>
        <p:spPr>
          <a:xfrm>
            <a:off x="8627165" y="4809714"/>
            <a:ext cx="1219386" cy="461665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pPr algn="r"/>
            <a:r>
              <a:rPr lang="en-US" altLang="ko-KR" sz="24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ko-KR" altLang="en-US" sz="2400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Elbow Connector 10">
            <a:extLst>
              <a:ext uri="{FF2B5EF4-FFF2-40B4-BE49-F238E27FC236}">
                <a16:creationId xmlns:a16="http://schemas.microsoft.com/office/drawing/2014/main" id="{CF54765F-2FE9-40C3-91AD-4C0F3D99F82F}"/>
              </a:ext>
            </a:extLst>
          </p:cNvPr>
          <p:cNvCxnSpPr>
            <a:cxnSpLocks/>
          </p:cNvCxnSpPr>
          <p:nvPr/>
        </p:nvCxnSpPr>
        <p:spPr>
          <a:xfrm flipV="1">
            <a:off x="6535884" y="1617799"/>
            <a:ext cx="1847207" cy="904625"/>
          </a:xfrm>
          <a:prstGeom prst="bentConnector3">
            <a:avLst>
              <a:gd name="adj1" fmla="val 498"/>
            </a:avLst>
          </a:prstGeom>
          <a:ln>
            <a:solidFill>
              <a:schemeClr val="bg1">
                <a:lumMod val="6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124">
            <a:extLst>
              <a:ext uri="{FF2B5EF4-FFF2-40B4-BE49-F238E27FC236}">
                <a16:creationId xmlns:a16="http://schemas.microsoft.com/office/drawing/2014/main" id="{E18BF2DC-CC8B-488E-9415-8F5E4E289801}"/>
              </a:ext>
            </a:extLst>
          </p:cNvPr>
          <p:cNvCxnSpPr>
            <a:cxnSpLocks/>
          </p:cNvCxnSpPr>
          <p:nvPr/>
        </p:nvCxnSpPr>
        <p:spPr>
          <a:xfrm rot="10800000">
            <a:off x="7923049" y="3011636"/>
            <a:ext cx="1561940" cy="21328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132">
            <a:extLst>
              <a:ext uri="{FF2B5EF4-FFF2-40B4-BE49-F238E27FC236}">
                <a16:creationId xmlns:a16="http://schemas.microsoft.com/office/drawing/2014/main" id="{AD56D368-30E1-4D45-812B-15E8941C73D7}"/>
              </a:ext>
            </a:extLst>
          </p:cNvPr>
          <p:cNvCxnSpPr>
            <a:cxnSpLocks/>
          </p:cNvCxnSpPr>
          <p:nvPr/>
        </p:nvCxnSpPr>
        <p:spPr>
          <a:xfrm>
            <a:off x="2743200" y="3539926"/>
            <a:ext cx="1764040" cy="50446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138">
            <a:extLst>
              <a:ext uri="{FF2B5EF4-FFF2-40B4-BE49-F238E27FC236}">
                <a16:creationId xmlns:a16="http://schemas.microsoft.com/office/drawing/2014/main" id="{4714DB57-82D2-4C27-8614-2AADDC3CC761}"/>
              </a:ext>
            </a:extLst>
          </p:cNvPr>
          <p:cNvCxnSpPr>
            <a:cxnSpLocks/>
          </p:cNvCxnSpPr>
          <p:nvPr/>
        </p:nvCxnSpPr>
        <p:spPr>
          <a:xfrm>
            <a:off x="4151851" y="1546612"/>
            <a:ext cx="1259917" cy="36347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138">
            <a:extLst>
              <a:ext uri="{FF2B5EF4-FFF2-40B4-BE49-F238E27FC236}">
                <a16:creationId xmlns:a16="http://schemas.microsoft.com/office/drawing/2014/main" id="{4C6EFE97-CBA5-4AD8-B0FF-0FA828EAA191}"/>
              </a:ext>
            </a:extLst>
          </p:cNvPr>
          <p:cNvCxnSpPr>
            <a:cxnSpLocks/>
          </p:cNvCxnSpPr>
          <p:nvPr/>
        </p:nvCxnSpPr>
        <p:spPr>
          <a:xfrm rot="5400000">
            <a:off x="5706877" y="4340229"/>
            <a:ext cx="847260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138">
            <a:extLst>
              <a:ext uri="{FF2B5EF4-FFF2-40B4-BE49-F238E27FC236}">
                <a16:creationId xmlns:a16="http://schemas.microsoft.com/office/drawing/2014/main" id="{DBB01D0A-FFA2-48E1-9A8E-BBB54988F5DF}"/>
              </a:ext>
            </a:extLst>
          </p:cNvPr>
          <p:cNvCxnSpPr>
            <a:cxnSpLocks/>
          </p:cNvCxnSpPr>
          <p:nvPr/>
        </p:nvCxnSpPr>
        <p:spPr>
          <a:xfrm>
            <a:off x="7613868" y="3778606"/>
            <a:ext cx="1387793" cy="1296287"/>
          </a:xfrm>
          <a:prstGeom prst="bentConnector3">
            <a:avLst>
              <a:gd name="adj1" fmla="val -914"/>
            </a:avLst>
          </a:prstGeom>
          <a:ln>
            <a:solidFill>
              <a:schemeClr val="bg1">
                <a:lumMod val="6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2">
            <a:extLst>
              <a:ext uri="{FF2B5EF4-FFF2-40B4-BE49-F238E27FC236}">
                <a16:creationId xmlns:a16="http://schemas.microsoft.com/office/drawing/2014/main" id="{9BE3626A-0584-472F-85DE-3C7994CC48B8}"/>
              </a:ext>
            </a:extLst>
          </p:cNvPr>
          <p:cNvSpPr txBox="1"/>
          <p:nvPr/>
        </p:nvSpPr>
        <p:spPr>
          <a:xfrm>
            <a:off x="906053" y="1810415"/>
            <a:ext cx="4265359" cy="1015663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/>
          <a:p>
            <a:r>
              <a:rPr lang="en-US" altLang="ko-KR" sz="2000" dirty="0">
                <a:latin typeface="Raleway" pitchFamily="2" charset="0"/>
                <a:cs typeface="Times New Roman" panose="02020603050405020304" pitchFamily="18" charset="0"/>
              </a:rPr>
              <a:t>Visual studio code</a:t>
            </a:r>
          </a:p>
          <a:p>
            <a:r>
              <a:rPr lang="en-US" altLang="ko-KR" sz="2000" dirty="0">
                <a:latin typeface="Raleway" pitchFamily="2" charset="0"/>
                <a:cs typeface="Times New Roman" panose="02020603050405020304" pitchFamily="18" charset="0"/>
              </a:rPr>
              <a:t>Le </a:t>
            </a:r>
            <a:r>
              <a:rPr lang="en-US" altLang="ko-KR" sz="2000" dirty="0" err="1">
                <a:latin typeface="Raleway" pitchFamily="2" charset="0"/>
                <a:cs typeface="Times New Roman" panose="02020603050405020304" pitchFamily="18" charset="0"/>
              </a:rPr>
              <a:t>navigateur</a:t>
            </a:r>
            <a:r>
              <a:rPr lang="en-US" altLang="ko-KR" sz="2000" dirty="0">
                <a:latin typeface="Raleway" pitchFamily="2" charset="0"/>
                <a:cs typeface="Times New Roman" panose="02020603050405020304" pitchFamily="18" charset="0"/>
              </a:rPr>
              <a:t> Chrome</a:t>
            </a:r>
          </a:p>
          <a:p>
            <a:r>
              <a:rPr lang="en-US" altLang="ko-KR" sz="2000" dirty="0">
                <a:latin typeface="Raleway" pitchFamily="2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9" name="Google Shape;282;p36">
            <a:extLst>
              <a:ext uri="{FF2B5EF4-FFF2-40B4-BE49-F238E27FC236}">
                <a16:creationId xmlns:a16="http://schemas.microsoft.com/office/drawing/2014/main" id="{33C859A1-C80F-4022-9EA1-731C5013422E}"/>
              </a:ext>
            </a:extLst>
          </p:cNvPr>
          <p:cNvSpPr txBox="1">
            <a:spLocks/>
          </p:cNvSpPr>
          <p:nvPr/>
        </p:nvSpPr>
        <p:spPr>
          <a:xfrm>
            <a:off x="3215367" y="40375"/>
            <a:ext cx="7251199" cy="932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fr-FR" sz="4800" b="1" dirty="0">
                <a:solidFill>
                  <a:srgbClr val="0070C0"/>
                </a:solidFill>
                <a:latin typeface="Raleway "/>
              </a:rPr>
              <a:t>Matériels et Méthodes </a:t>
            </a:r>
          </a:p>
        </p:txBody>
      </p:sp>
    </p:spTree>
    <p:extLst>
      <p:ext uri="{BB962C8B-B14F-4D97-AF65-F5344CB8AC3E}">
        <p14:creationId xmlns:p14="http://schemas.microsoft.com/office/powerpoint/2010/main" val="31729983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1B4FB8A4-06FF-46A4-8266-98430F8B32E7}"/>
              </a:ext>
            </a:extLst>
          </p:cNvPr>
          <p:cNvSpPr txBox="1"/>
          <p:nvPr/>
        </p:nvSpPr>
        <p:spPr>
          <a:xfrm>
            <a:off x="0" y="22821"/>
            <a:ext cx="8829674" cy="907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l">
              <a:lnSpc>
                <a:spcPct val="150000"/>
              </a:lnSpc>
            </a:pPr>
            <a:r>
              <a:rPr lang="fr-FR" sz="4000" b="1" dirty="0">
                <a:solidFill>
                  <a:srgbClr val="0070C0"/>
                </a:solidFill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Résultats et discussion</a:t>
            </a:r>
            <a:endParaRPr lang="fr-CM" sz="4000" dirty="0">
              <a:solidFill>
                <a:srgbClr val="0070C0"/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2E3967D-75C2-4A8F-AE09-4C3370AE138C}"/>
              </a:ext>
            </a:extLst>
          </p:cNvPr>
          <p:cNvSpPr txBox="1"/>
          <p:nvPr/>
        </p:nvSpPr>
        <p:spPr>
          <a:xfrm>
            <a:off x="0" y="1222981"/>
            <a:ext cx="8829674" cy="662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0" lvl="2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Résultats de la phase d’analyse</a:t>
            </a:r>
            <a:endParaRPr lang="fr-CM" sz="2800" dirty="0"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27262B5-7C69-492D-8A78-C5D3DD1D7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794" y="725093"/>
            <a:ext cx="5039428" cy="336101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19EDD089-45EC-4E0B-95F0-C1BD244E341A}"/>
              </a:ext>
            </a:extLst>
          </p:cNvPr>
          <p:cNvSpPr txBox="1"/>
          <p:nvPr/>
        </p:nvSpPr>
        <p:spPr>
          <a:xfrm>
            <a:off x="953217" y="3178321"/>
            <a:ext cx="6538577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CM" sz="20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La plupart ne communiquent pas suffisamment avec les parents ;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CM" sz="20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Raisons : manque de temps et d’outils adaptés ;</a:t>
            </a:r>
          </a:p>
          <a:p>
            <a:pPr algn="just"/>
            <a:r>
              <a:rPr lang="fr-CM" sz="20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Une majorité souhaite utiliser une plateforme de suivi pour améliorer les échanges</a:t>
            </a:r>
            <a:endParaRPr lang="fr-CM" sz="20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D68F435-553C-4CE2-85C2-7E8C43556195}"/>
              </a:ext>
            </a:extLst>
          </p:cNvPr>
          <p:cNvSpPr txBox="1"/>
          <p:nvPr/>
        </p:nvSpPr>
        <p:spPr>
          <a:xfrm>
            <a:off x="820695" y="2107095"/>
            <a:ext cx="8829674" cy="662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0" lvl="2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Cote enseignants</a:t>
            </a:r>
            <a:endParaRPr lang="fr-CM" sz="2800" dirty="0"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72E3727-14C5-41D6-B54E-7DCFFEE59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340" y="4152035"/>
            <a:ext cx="3933606" cy="1783026"/>
          </a:xfrm>
          <a:prstGeom prst="rect">
            <a:avLst/>
          </a:prstGeom>
        </p:spPr>
      </p:pic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312B8678-EEFA-41AF-B083-FD260FD46491}"/>
              </a:ext>
            </a:extLst>
          </p:cNvPr>
          <p:cNvSpPr/>
          <p:nvPr/>
        </p:nvSpPr>
        <p:spPr>
          <a:xfrm>
            <a:off x="215556" y="100957"/>
            <a:ext cx="7613784" cy="98857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3140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1B4FB8A4-06FF-46A4-8266-98430F8B32E7}"/>
              </a:ext>
            </a:extLst>
          </p:cNvPr>
          <p:cNvSpPr txBox="1"/>
          <p:nvPr/>
        </p:nvSpPr>
        <p:spPr>
          <a:xfrm>
            <a:off x="447469" y="318669"/>
            <a:ext cx="8829674" cy="662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l">
              <a:lnSpc>
                <a:spcPct val="150000"/>
              </a:lnSpc>
            </a:pPr>
            <a:r>
              <a:rPr lang="fr-FR" sz="2800" b="1" dirty="0">
                <a:solidFill>
                  <a:srgbClr val="0070C0"/>
                </a:solidFill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Résultats et discussion </a:t>
            </a:r>
            <a:r>
              <a:rPr lang="en-CA" sz="2800" b="1" dirty="0">
                <a:solidFill>
                  <a:srgbClr val="0070C0"/>
                </a:solidFill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(1/4)</a:t>
            </a:r>
            <a:endParaRPr lang="fr-CM" sz="2800" dirty="0">
              <a:solidFill>
                <a:srgbClr val="0070C0"/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2E3967D-75C2-4A8F-AE09-4C3370AE138C}"/>
              </a:ext>
            </a:extLst>
          </p:cNvPr>
          <p:cNvSpPr txBox="1"/>
          <p:nvPr/>
        </p:nvSpPr>
        <p:spPr>
          <a:xfrm>
            <a:off x="215556" y="1417026"/>
            <a:ext cx="8829674" cy="662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0" lvl="2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Résultats de la phase d’analyse</a:t>
            </a:r>
            <a:endParaRPr lang="fr-CM" sz="2800" dirty="0"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312B8678-EEFA-41AF-B083-FD260FD46491}"/>
              </a:ext>
            </a:extLst>
          </p:cNvPr>
          <p:cNvSpPr/>
          <p:nvPr/>
        </p:nvSpPr>
        <p:spPr>
          <a:xfrm>
            <a:off x="609600" y="360659"/>
            <a:ext cx="6003235" cy="72886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9EDD089-45EC-4E0B-95F0-C1BD244E341A}"/>
              </a:ext>
            </a:extLst>
          </p:cNvPr>
          <p:cNvSpPr txBox="1"/>
          <p:nvPr/>
        </p:nvSpPr>
        <p:spPr>
          <a:xfrm>
            <a:off x="447469" y="2953034"/>
            <a:ext cx="6538577" cy="3013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CM" sz="20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Enthousiastes à l’idée d’une plateforme de suivi scolaire ;</a:t>
            </a:r>
          </a:p>
          <a:p>
            <a:pPr marL="34290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CM" sz="20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Souhaitent recevoir </a:t>
            </a:r>
            <a:r>
              <a:rPr lang="fr-CM" sz="2000" b="1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plus que les bulletins</a:t>
            </a:r>
            <a:r>
              <a:rPr lang="fr-CM" sz="20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: comportement, progrès, retards, absences ;</a:t>
            </a:r>
          </a:p>
          <a:p>
            <a:pPr marL="342900" lvl="0" indent="-342900" algn="l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CM" sz="20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Plusieurs ont déjà utilisé des plateformes similaires.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D68F435-553C-4CE2-85C2-7E8C43556195}"/>
              </a:ext>
            </a:extLst>
          </p:cNvPr>
          <p:cNvSpPr txBox="1"/>
          <p:nvPr/>
        </p:nvSpPr>
        <p:spPr>
          <a:xfrm>
            <a:off x="820695" y="2107095"/>
            <a:ext cx="8829674" cy="662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0" lvl="2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Cote parents</a:t>
            </a:r>
            <a:endParaRPr lang="fr-CM" sz="2800" dirty="0"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682D5C2-8B4E-4386-9666-23E4C5554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238" y="600368"/>
            <a:ext cx="4667901" cy="301345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CF47577-097F-4C43-94D3-CB44861E6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235" y="3700222"/>
            <a:ext cx="3566765" cy="174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02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1B4FB8A4-06FF-46A4-8266-98430F8B32E7}"/>
              </a:ext>
            </a:extLst>
          </p:cNvPr>
          <p:cNvSpPr txBox="1"/>
          <p:nvPr/>
        </p:nvSpPr>
        <p:spPr>
          <a:xfrm>
            <a:off x="447469" y="318669"/>
            <a:ext cx="8829674" cy="662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l">
              <a:lnSpc>
                <a:spcPct val="150000"/>
              </a:lnSpc>
            </a:pPr>
            <a:r>
              <a:rPr lang="fr-FR" sz="2800" b="1" dirty="0">
                <a:solidFill>
                  <a:srgbClr val="0070C0"/>
                </a:solidFill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Résultats et discussion</a:t>
            </a:r>
            <a:endParaRPr lang="fr-CM" sz="2800" dirty="0">
              <a:solidFill>
                <a:srgbClr val="0070C0"/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2E3967D-75C2-4A8F-AE09-4C3370AE138C}"/>
              </a:ext>
            </a:extLst>
          </p:cNvPr>
          <p:cNvSpPr txBox="1"/>
          <p:nvPr/>
        </p:nvSpPr>
        <p:spPr>
          <a:xfrm>
            <a:off x="215556" y="1417026"/>
            <a:ext cx="8829674" cy="662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0" lvl="2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Résultats de la phase de conception</a:t>
            </a:r>
            <a:endParaRPr lang="fr-CM" sz="2800" dirty="0"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276EF1B-CEB0-491B-A23D-E410F47EEBCF}"/>
              </a:ext>
            </a:extLst>
          </p:cNvPr>
          <p:cNvSpPr txBox="1"/>
          <p:nvPr/>
        </p:nvSpPr>
        <p:spPr>
          <a:xfrm>
            <a:off x="540600" y="3222676"/>
            <a:ext cx="3384645" cy="700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l">
              <a:lnSpc>
                <a:spcPct val="150000"/>
              </a:lnSpc>
            </a:pPr>
            <a:r>
              <a:rPr lang="fr-FR" sz="1400" dirty="0">
                <a:solidFill>
                  <a:schemeClr val="bg1"/>
                </a:solidFill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Architecture de la plateforme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312B8678-EEFA-41AF-B083-FD260FD46491}"/>
              </a:ext>
            </a:extLst>
          </p:cNvPr>
          <p:cNvSpPr/>
          <p:nvPr/>
        </p:nvSpPr>
        <p:spPr>
          <a:xfrm>
            <a:off x="609600" y="360659"/>
            <a:ext cx="7527235" cy="72886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2B3AB8B0-A903-4A5B-A677-0C5C6C20A942}"/>
              </a:ext>
            </a:extLst>
          </p:cNvPr>
          <p:cNvSpPr/>
          <p:nvPr/>
        </p:nvSpPr>
        <p:spPr>
          <a:xfrm>
            <a:off x="609600" y="2834832"/>
            <a:ext cx="3384645" cy="35385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05EC6446-9BAF-4FB7-BD99-FABDD2D9A003}"/>
              </a:ext>
            </a:extLst>
          </p:cNvPr>
          <p:cNvSpPr/>
          <p:nvPr/>
        </p:nvSpPr>
        <p:spPr>
          <a:xfrm>
            <a:off x="8009484" y="2834830"/>
            <a:ext cx="3384645" cy="35385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F736338-CA7B-4B2B-A7F1-50E32BA02222}"/>
              </a:ext>
            </a:extLst>
          </p:cNvPr>
          <p:cNvSpPr txBox="1"/>
          <p:nvPr/>
        </p:nvSpPr>
        <p:spPr>
          <a:xfrm>
            <a:off x="63174" y="3923599"/>
            <a:ext cx="3862071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l">
              <a:lnSpc>
                <a:spcPct val="150000"/>
              </a:lnSpc>
            </a:pPr>
            <a:r>
              <a:rPr lang="fr-FR" dirty="0">
                <a:solidFill>
                  <a:schemeClr val="bg1"/>
                </a:solidFill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Architecture 03 couches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2A2FF5D-1E00-4767-BE5E-977D0CE52C55}"/>
              </a:ext>
            </a:extLst>
          </p:cNvPr>
          <p:cNvSpPr txBox="1"/>
          <p:nvPr/>
        </p:nvSpPr>
        <p:spPr>
          <a:xfrm>
            <a:off x="540598" y="3012210"/>
            <a:ext cx="3062409" cy="49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l">
              <a:lnSpc>
                <a:spcPct val="150000"/>
              </a:lnSpc>
            </a:pPr>
            <a:r>
              <a:rPr lang="fr-FR" sz="2000" b="1" dirty="0">
                <a:solidFill>
                  <a:schemeClr val="bg1"/>
                </a:solidFill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5958F304-7557-4293-BDF9-BABB705763A3}"/>
              </a:ext>
            </a:extLst>
          </p:cNvPr>
          <p:cNvSpPr/>
          <p:nvPr/>
        </p:nvSpPr>
        <p:spPr>
          <a:xfrm>
            <a:off x="4309542" y="2834829"/>
            <a:ext cx="3384645" cy="35385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CD32B52-FC3C-4AD6-8A1A-097323E4F8E8}"/>
              </a:ext>
            </a:extLst>
          </p:cNvPr>
          <p:cNvSpPr txBox="1"/>
          <p:nvPr/>
        </p:nvSpPr>
        <p:spPr>
          <a:xfrm>
            <a:off x="3925246" y="3179404"/>
            <a:ext cx="369300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l">
              <a:lnSpc>
                <a:spcPct val="150000"/>
              </a:lnSpc>
            </a:pPr>
            <a:r>
              <a:rPr lang="fr-FR" b="1" dirty="0">
                <a:solidFill>
                  <a:schemeClr val="bg1"/>
                </a:solidFill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Structure  de données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097C1AC-EB56-48CD-ABF1-414AF020EFB4}"/>
              </a:ext>
            </a:extLst>
          </p:cNvPr>
          <p:cNvSpPr txBox="1"/>
          <p:nvPr/>
        </p:nvSpPr>
        <p:spPr>
          <a:xfrm>
            <a:off x="3678948" y="3892905"/>
            <a:ext cx="4015239" cy="41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l">
              <a:lnSpc>
                <a:spcPct val="150000"/>
              </a:lnSpc>
            </a:pPr>
            <a:r>
              <a:rPr lang="fr-FR" sz="1600" dirty="0">
                <a:solidFill>
                  <a:schemeClr val="bg1"/>
                </a:solidFill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Programmation fonctionnelle</a:t>
            </a:r>
          </a:p>
        </p:txBody>
      </p:sp>
    </p:spTree>
    <p:extLst>
      <p:ext uri="{BB962C8B-B14F-4D97-AF65-F5344CB8AC3E}">
        <p14:creationId xmlns:p14="http://schemas.microsoft.com/office/powerpoint/2010/main" val="1332527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1B4FB8A4-06FF-46A4-8266-98430F8B32E7}"/>
              </a:ext>
            </a:extLst>
          </p:cNvPr>
          <p:cNvSpPr txBox="1"/>
          <p:nvPr/>
        </p:nvSpPr>
        <p:spPr>
          <a:xfrm>
            <a:off x="2726843" y="532608"/>
            <a:ext cx="8829674" cy="662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l">
              <a:lnSpc>
                <a:spcPct val="150000"/>
              </a:lnSpc>
            </a:pPr>
            <a:r>
              <a:rPr lang="fr-FR" sz="2800" b="1" dirty="0">
                <a:solidFill>
                  <a:schemeClr val="accent5"/>
                </a:solidFill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Résultats et discussion</a:t>
            </a:r>
            <a:endParaRPr lang="fr-CM" sz="2800" dirty="0">
              <a:solidFill>
                <a:schemeClr val="accent5"/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2E3967D-75C2-4A8F-AE09-4C3370AE138C}"/>
              </a:ext>
            </a:extLst>
          </p:cNvPr>
          <p:cNvSpPr txBox="1"/>
          <p:nvPr/>
        </p:nvSpPr>
        <p:spPr>
          <a:xfrm>
            <a:off x="692635" y="1488055"/>
            <a:ext cx="8829674" cy="662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0" lvl="2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b="1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Résultat de la phase d’implantation</a:t>
            </a:r>
            <a:endParaRPr lang="fr-CM" sz="2800" dirty="0"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ZoneTexte 1">
            <a:hlinkClick r:id="rId2"/>
            <a:extLst>
              <a:ext uri="{FF2B5EF4-FFF2-40B4-BE49-F238E27FC236}">
                <a16:creationId xmlns:a16="http://schemas.microsoft.com/office/drawing/2014/main" id="{2CD9F3E1-D455-4A72-8ED2-278D91063B00}"/>
              </a:ext>
            </a:extLst>
          </p:cNvPr>
          <p:cNvSpPr txBox="1"/>
          <p:nvPr/>
        </p:nvSpPr>
        <p:spPr>
          <a:xfrm>
            <a:off x="3882887" y="3769379"/>
            <a:ext cx="8829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M" dirty="0"/>
              <a:t>https://eschoolconnect.vercel.app/</a:t>
            </a:r>
          </a:p>
        </p:txBody>
      </p:sp>
    </p:spTree>
    <p:extLst>
      <p:ext uri="{BB962C8B-B14F-4D97-AF65-F5344CB8AC3E}">
        <p14:creationId xmlns:p14="http://schemas.microsoft.com/office/powerpoint/2010/main" val="1929567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1B4FB8A4-06FF-46A4-8266-98430F8B32E7}"/>
              </a:ext>
            </a:extLst>
          </p:cNvPr>
          <p:cNvSpPr txBox="1"/>
          <p:nvPr/>
        </p:nvSpPr>
        <p:spPr>
          <a:xfrm>
            <a:off x="1306821" y="32588"/>
            <a:ext cx="8829674" cy="834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lnSpc>
                <a:spcPct val="150000"/>
              </a:lnSpc>
            </a:pPr>
            <a:r>
              <a:rPr lang="en" sz="3600" b="1" dirty="0">
                <a:solidFill>
                  <a:schemeClr val="accent5"/>
                </a:solidFill>
                <a:latin typeface="Raleway" pitchFamily="2" charset="0"/>
              </a:rPr>
              <a:t>IMPLICATIONS PEDAGOGIQUES</a:t>
            </a:r>
            <a:endParaRPr lang="fr-CM" sz="3600" b="1" dirty="0">
              <a:solidFill>
                <a:schemeClr val="accent5"/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ECDD73C-9CAB-41DE-83E7-E7A437419F2B}"/>
              </a:ext>
            </a:extLst>
          </p:cNvPr>
          <p:cNvSpPr/>
          <p:nvPr/>
        </p:nvSpPr>
        <p:spPr>
          <a:xfrm>
            <a:off x="8587409" y="1421805"/>
            <a:ext cx="3604591" cy="32070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A18FAD3-A743-4289-A21B-6B651464CC62}"/>
              </a:ext>
            </a:extLst>
          </p:cNvPr>
          <p:cNvSpPr/>
          <p:nvPr/>
        </p:nvSpPr>
        <p:spPr>
          <a:xfrm>
            <a:off x="4626053" y="3623793"/>
            <a:ext cx="3604591" cy="32070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6" name="Triangle isocèle 5">
            <a:extLst>
              <a:ext uri="{FF2B5EF4-FFF2-40B4-BE49-F238E27FC236}">
                <a16:creationId xmlns:a16="http://schemas.microsoft.com/office/drawing/2014/main" id="{8D020FD3-4CB8-4AB2-9ED1-60087377F3E8}"/>
              </a:ext>
            </a:extLst>
          </p:cNvPr>
          <p:cNvSpPr/>
          <p:nvPr/>
        </p:nvSpPr>
        <p:spPr>
          <a:xfrm rot="7041976">
            <a:off x="3691932" y="4172970"/>
            <a:ext cx="788042" cy="630016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0" name="Triangle isocèle 9">
            <a:extLst>
              <a:ext uri="{FF2B5EF4-FFF2-40B4-BE49-F238E27FC236}">
                <a16:creationId xmlns:a16="http://schemas.microsoft.com/office/drawing/2014/main" id="{0B74425A-5F68-4882-B6EE-C461CAC5ABE6}"/>
              </a:ext>
            </a:extLst>
          </p:cNvPr>
          <p:cNvSpPr/>
          <p:nvPr/>
        </p:nvSpPr>
        <p:spPr>
          <a:xfrm rot="2803822">
            <a:off x="8523077" y="4508783"/>
            <a:ext cx="788042" cy="630016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9AAE7A73-D0A8-4D06-82F8-8AB16D301D37}"/>
              </a:ext>
            </a:extLst>
          </p:cNvPr>
          <p:cNvSpPr/>
          <p:nvPr/>
        </p:nvSpPr>
        <p:spPr>
          <a:xfrm>
            <a:off x="113106" y="1616765"/>
            <a:ext cx="3604591" cy="32070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55805BE-49B5-43E5-8864-EDA6EA8A39BB}"/>
              </a:ext>
            </a:extLst>
          </p:cNvPr>
          <p:cNvSpPr txBox="1"/>
          <p:nvPr/>
        </p:nvSpPr>
        <p:spPr>
          <a:xfrm>
            <a:off x="-998397" y="2616023"/>
            <a:ext cx="4964340" cy="1135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lnSpc>
                <a:spcPct val="150000"/>
              </a:lnSpc>
            </a:pPr>
            <a:r>
              <a:rPr lang="fr-FR" sz="2400" b="1" dirty="0">
                <a:solidFill>
                  <a:schemeClr val="bg1"/>
                </a:solidFill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Dans le processus éducatif</a:t>
            </a:r>
            <a:endParaRPr lang="fr-CM" sz="2400" dirty="0">
              <a:solidFill>
                <a:schemeClr val="bg1"/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FE4A540-E045-4F36-9E4E-739E9F45452B}"/>
              </a:ext>
            </a:extLst>
          </p:cNvPr>
          <p:cNvSpPr txBox="1"/>
          <p:nvPr/>
        </p:nvSpPr>
        <p:spPr>
          <a:xfrm>
            <a:off x="3545852" y="4812783"/>
            <a:ext cx="4964340" cy="1135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lnSpc>
                <a:spcPct val="150000"/>
              </a:lnSpc>
            </a:pPr>
            <a:r>
              <a:rPr lang="fr-FR" sz="2400" b="1" dirty="0">
                <a:solidFill>
                  <a:schemeClr val="bg1"/>
                </a:solidFill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Dans le processus </a:t>
            </a:r>
          </a:p>
          <a:p>
            <a:pPr lvl="2" algn="ctr">
              <a:lnSpc>
                <a:spcPct val="150000"/>
              </a:lnSpc>
            </a:pPr>
            <a:r>
              <a:rPr lang="fr-FR" sz="2400" b="1" dirty="0">
                <a:solidFill>
                  <a:schemeClr val="bg1"/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D’enseignement</a:t>
            </a:r>
            <a:endParaRPr lang="fr-CM" sz="2400" dirty="0">
              <a:solidFill>
                <a:schemeClr val="bg1"/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0B546B6-8228-4021-9566-5164D949C544}"/>
              </a:ext>
            </a:extLst>
          </p:cNvPr>
          <p:cNvSpPr txBox="1"/>
          <p:nvPr/>
        </p:nvSpPr>
        <p:spPr>
          <a:xfrm>
            <a:off x="7533710" y="2506165"/>
            <a:ext cx="4964340" cy="1135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lnSpc>
                <a:spcPct val="150000"/>
              </a:lnSpc>
            </a:pPr>
            <a:r>
              <a:rPr lang="fr-FR" sz="2400" b="1" dirty="0">
                <a:solidFill>
                  <a:schemeClr val="bg1"/>
                </a:solidFill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Dans le processus </a:t>
            </a:r>
          </a:p>
          <a:p>
            <a:pPr lvl="2" algn="ctr">
              <a:lnSpc>
                <a:spcPct val="150000"/>
              </a:lnSpc>
            </a:pPr>
            <a:r>
              <a:rPr lang="fr-FR" sz="2400" b="1" dirty="0">
                <a:solidFill>
                  <a:schemeClr val="bg1"/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D’apprentissage</a:t>
            </a:r>
            <a:endParaRPr lang="fr-CM" sz="2400" dirty="0">
              <a:solidFill>
                <a:schemeClr val="bg1"/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22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6" grpId="0" animBg="1"/>
      <p:bldP spid="10" grpId="0" animBg="1"/>
      <p:bldP spid="3" grpId="0" animBg="1"/>
      <p:bldP spid="5" grpId="0"/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1B4FB8A4-06FF-46A4-8266-98430F8B32E7}"/>
              </a:ext>
            </a:extLst>
          </p:cNvPr>
          <p:cNvSpPr txBox="1"/>
          <p:nvPr/>
        </p:nvSpPr>
        <p:spPr>
          <a:xfrm>
            <a:off x="1401626" y="479599"/>
            <a:ext cx="8829674" cy="1070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lnSpc>
                <a:spcPct val="150000"/>
              </a:lnSpc>
            </a:pPr>
            <a:r>
              <a:rPr lang="fr-FR" sz="4800" b="1" dirty="0">
                <a:solidFill>
                  <a:schemeClr val="accent5"/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  <a:endParaRPr lang="fr-CM" sz="4800" dirty="0">
              <a:solidFill>
                <a:schemeClr val="accent5"/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403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1B4FB8A4-06FF-46A4-8266-98430F8B32E7}"/>
              </a:ext>
            </a:extLst>
          </p:cNvPr>
          <p:cNvSpPr txBox="1"/>
          <p:nvPr/>
        </p:nvSpPr>
        <p:spPr>
          <a:xfrm>
            <a:off x="1401626" y="479599"/>
            <a:ext cx="8829674" cy="1070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lnSpc>
                <a:spcPct val="150000"/>
              </a:lnSpc>
            </a:pPr>
            <a:r>
              <a:rPr lang="fr-FR" sz="4800" b="1" dirty="0">
                <a:solidFill>
                  <a:schemeClr val="accent5"/>
                </a:solidFill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Perspectives.</a:t>
            </a:r>
            <a:endParaRPr lang="fr-CM" sz="4800" dirty="0">
              <a:solidFill>
                <a:schemeClr val="accent5"/>
              </a:solidFill>
              <a:effectLst/>
              <a:latin typeface="Raleway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CD6587E-62E9-49C0-A5C2-F609AD0E6135}"/>
              </a:ext>
            </a:extLst>
          </p:cNvPr>
          <p:cNvSpPr txBox="1"/>
          <p:nvPr/>
        </p:nvSpPr>
        <p:spPr>
          <a:xfrm>
            <a:off x="1195753" y="249954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1800" b="1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Formation des utilisateurs</a:t>
            </a:r>
            <a:r>
              <a:rPr lang="fr-CM" sz="1800" dirty="0">
                <a:effectLst/>
                <a:latin typeface="Raleway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(enseignants et parents) afin de garantir une adoption fluide et efficace de l’outil.</a:t>
            </a:r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2927865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341017-BD8D-4AED-80FC-5CD7492617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D379924-1E0B-47E9-B8F5-BA447FFE0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31" b="89984" l="5907" r="91139">
                        <a14:foregroundMark x1="15190" y1="34410" x2="15190" y2="34410"/>
                        <a14:foregroundMark x1="13080" y1="34410" x2="13080" y2="34410"/>
                        <a14:foregroundMark x1="13080" y1="34410" x2="13080" y2="34410"/>
                        <a14:foregroundMark x1="11814" y1="35218" x2="19620" y2="35218"/>
                        <a14:foregroundMark x1="19620" y1="35218" x2="19620" y2="35218"/>
                        <a14:foregroundMark x1="19620" y1="31987" x2="19620" y2="31987"/>
                        <a14:foregroundMark x1="19620" y1="30048" x2="19620" y2="3004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03384" y="-164245"/>
            <a:ext cx="4788616" cy="644936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852C9E5-B8B8-49AD-90EE-13719A8C0BD2}"/>
              </a:ext>
            </a:extLst>
          </p:cNvPr>
          <p:cNvSpPr txBox="1"/>
          <p:nvPr/>
        </p:nvSpPr>
        <p:spPr>
          <a:xfrm>
            <a:off x="384064" y="410064"/>
            <a:ext cx="8190186" cy="5300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fr-CM" sz="8000" b="1" dirty="0">
                <a:solidFill>
                  <a:schemeClr val="accent4"/>
                </a:solidFill>
                <a:effectLst/>
                <a:latin typeface="Raleway" pitchFamily="2" charset="0"/>
                <a:ea typeface="Calibri" panose="020F0502020204030204" pitchFamily="34" charset="0"/>
              </a:rPr>
              <a:t>MERCI</a:t>
            </a:r>
            <a:r>
              <a:rPr lang="fr-CM" sz="2000" b="1" dirty="0">
                <a:solidFill>
                  <a:schemeClr val="accent4"/>
                </a:solidFill>
                <a:effectLst/>
                <a:latin typeface="Raleway" pitchFamily="2" charset="0"/>
                <a:ea typeface="Calibri" panose="020F0502020204030204" pitchFamily="34" charset="0"/>
              </a:rPr>
              <a:t> </a:t>
            </a:r>
          </a:p>
          <a:p>
            <a:pPr algn="ctr">
              <a:lnSpc>
                <a:spcPct val="200000"/>
              </a:lnSpc>
            </a:pPr>
            <a:r>
              <a:rPr lang="fr-CM" sz="4800" b="1" dirty="0">
                <a:solidFill>
                  <a:schemeClr val="bg1"/>
                </a:solidFill>
                <a:effectLst/>
                <a:latin typeface="Raleway" pitchFamily="2" charset="0"/>
                <a:ea typeface="Calibri" panose="020F0502020204030204" pitchFamily="34" charset="0"/>
              </a:rPr>
              <a:t>POUR VOTRE AIMABLE ATTENTION</a:t>
            </a:r>
            <a:endParaRPr lang="fr-CM" sz="4800" b="1" dirty="0">
              <a:solidFill>
                <a:schemeClr val="bg1"/>
              </a:solidFill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567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3654</TotalTime>
  <Words>905</Words>
  <Application>Microsoft Office PowerPoint</Application>
  <PresentationFormat>Grand écran</PresentationFormat>
  <Paragraphs>147</Paragraphs>
  <Slides>20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34" baseType="lpstr">
      <vt:lpstr>Arial</vt:lpstr>
      <vt:lpstr>Bebas Neue</vt:lpstr>
      <vt:lpstr>Calibri</vt:lpstr>
      <vt:lpstr>Calibri Light</vt:lpstr>
      <vt:lpstr>Montserrat SemiBold</vt:lpstr>
      <vt:lpstr>Raleway</vt:lpstr>
      <vt:lpstr>Raleway </vt:lpstr>
      <vt:lpstr>Raleway Black</vt:lpstr>
      <vt:lpstr>Raleway Bold</vt:lpstr>
      <vt:lpstr>Raleway SemiBold</vt:lpstr>
      <vt:lpstr>Symbol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Problématique:</vt:lpstr>
      <vt:lpstr>Questions de recherche: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dianelaure ghomsi</dc:creator>
  <cp:lastModifiedBy>dianelaure ghomsi</cp:lastModifiedBy>
  <cp:revision>121</cp:revision>
  <dcterms:created xsi:type="dcterms:W3CDTF">2025-03-24T09:42:45Z</dcterms:created>
  <dcterms:modified xsi:type="dcterms:W3CDTF">2025-05-15T00:14:18Z</dcterms:modified>
</cp:coreProperties>
</file>